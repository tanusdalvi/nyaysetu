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4" r:id="rId9"/>
    <p:sldId id="265" r:id="rId10"/>
    <p:sldId id="268" r:id="rId11"/>
    <p:sldId id="267" r:id="rId12"/>
    <p:sldId id="269" r:id="rId13"/>
    <p:sldId id="270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8200" y="895350"/>
            <a:ext cx="1419225" cy="76200"/>
          </a:xfrm>
          <a:custGeom>
            <a:avLst/>
            <a:gdLst/>
            <a:ahLst/>
            <a:cxnLst/>
            <a:rect l="l" t="t" r="r" b="b"/>
            <a:pathLst>
              <a:path w="1419225" h="76200">
                <a:moveTo>
                  <a:pt x="1381125" y="0"/>
                </a:moveTo>
                <a:lnTo>
                  <a:pt x="38100" y="0"/>
                </a:lnTo>
                <a:lnTo>
                  <a:pt x="23268" y="2988"/>
                </a:lnTo>
                <a:lnTo>
                  <a:pt x="11158" y="11144"/>
                </a:lnTo>
                <a:lnTo>
                  <a:pt x="2993" y="23252"/>
                </a:lnTo>
                <a:lnTo>
                  <a:pt x="0" y="38100"/>
                </a:lnTo>
                <a:lnTo>
                  <a:pt x="2993" y="52947"/>
                </a:lnTo>
                <a:lnTo>
                  <a:pt x="11158" y="65055"/>
                </a:lnTo>
                <a:lnTo>
                  <a:pt x="23268" y="73211"/>
                </a:lnTo>
                <a:lnTo>
                  <a:pt x="38100" y="76200"/>
                </a:lnTo>
                <a:lnTo>
                  <a:pt x="1381125" y="76200"/>
                </a:lnTo>
                <a:lnTo>
                  <a:pt x="1395972" y="73211"/>
                </a:lnTo>
                <a:lnTo>
                  <a:pt x="1408080" y="65055"/>
                </a:lnTo>
                <a:lnTo>
                  <a:pt x="1416236" y="52947"/>
                </a:lnTo>
                <a:lnTo>
                  <a:pt x="1419225" y="38100"/>
                </a:lnTo>
                <a:lnTo>
                  <a:pt x="1416236" y="23252"/>
                </a:lnTo>
                <a:lnTo>
                  <a:pt x="1408080" y="11144"/>
                </a:lnTo>
                <a:lnTo>
                  <a:pt x="1395972" y="2988"/>
                </a:lnTo>
                <a:lnTo>
                  <a:pt x="1381125" y="0"/>
                </a:lnTo>
                <a:close/>
              </a:path>
            </a:pathLst>
          </a:custGeom>
          <a:solidFill>
            <a:srgbClr val="B12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9600" y="6724650"/>
            <a:ext cx="10972800" cy="133350"/>
          </a:xfrm>
          <a:custGeom>
            <a:avLst/>
            <a:gdLst/>
            <a:ahLst/>
            <a:cxnLst/>
            <a:rect l="l" t="t" r="r" b="b"/>
            <a:pathLst>
              <a:path w="10972800" h="133350">
                <a:moveTo>
                  <a:pt x="10972800" y="0"/>
                </a:moveTo>
                <a:lnTo>
                  <a:pt x="0" y="0"/>
                </a:lnTo>
                <a:lnTo>
                  <a:pt x="0" y="133350"/>
                </a:lnTo>
                <a:lnTo>
                  <a:pt x="10972800" y="133350"/>
                </a:lnTo>
                <a:lnTo>
                  <a:pt x="10972800" y="0"/>
                </a:lnTo>
                <a:close/>
              </a:path>
            </a:pathLst>
          </a:custGeom>
          <a:solidFill>
            <a:srgbClr val="D1A4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14362" y="6224587"/>
            <a:ext cx="10973435" cy="0"/>
          </a:xfrm>
          <a:custGeom>
            <a:avLst/>
            <a:gdLst/>
            <a:ahLst/>
            <a:cxnLst/>
            <a:rect l="l" t="t" r="r" b="b"/>
            <a:pathLst>
              <a:path w="10973435">
                <a:moveTo>
                  <a:pt x="0" y="0"/>
                </a:moveTo>
                <a:lnTo>
                  <a:pt x="10972863" y="0"/>
                </a:lnTo>
              </a:path>
            </a:pathLst>
          </a:custGeom>
          <a:ln w="6350">
            <a:solidFill>
              <a:srgbClr val="B12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63612" y="1176591"/>
            <a:ext cx="4219575" cy="4306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09715" y="1328102"/>
            <a:ext cx="2485390" cy="3448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8200" y="895350"/>
            <a:ext cx="1419225" cy="76200"/>
          </a:xfrm>
          <a:custGeom>
            <a:avLst/>
            <a:gdLst/>
            <a:ahLst/>
            <a:cxnLst/>
            <a:rect l="l" t="t" r="r" b="b"/>
            <a:pathLst>
              <a:path w="1419225" h="76200">
                <a:moveTo>
                  <a:pt x="1381125" y="0"/>
                </a:moveTo>
                <a:lnTo>
                  <a:pt x="38100" y="0"/>
                </a:lnTo>
                <a:lnTo>
                  <a:pt x="23268" y="2988"/>
                </a:lnTo>
                <a:lnTo>
                  <a:pt x="11158" y="11144"/>
                </a:lnTo>
                <a:lnTo>
                  <a:pt x="2993" y="23252"/>
                </a:lnTo>
                <a:lnTo>
                  <a:pt x="0" y="38100"/>
                </a:lnTo>
                <a:lnTo>
                  <a:pt x="2993" y="52947"/>
                </a:lnTo>
                <a:lnTo>
                  <a:pt x="11158" y="65055"/>
                </a:lnTo>
                <a:lnTo>
                  <a:pt x="23268" y="73211"/>
                </a:lnTo>
                <a:lnTo>
                  <a:pt x="38100" y="76200"/>
                </a:lnTo>
                <a:lnTo>
                  <a:pt x="1381125" y="76200"/>
                </a:lnTo>
                <a:lnTo>
                  <a:pt x="1395972" y="73211"/>
                </a:lnTo>
                <a:lnTo>
                  <a:pt x="1408080" y="65055"/>
                </a:lnTo>
                <a:lnTo>
                  <a:pt x="1416236" y="52947"/>
                </a:lnTo>
                <a:lnTo>
                  <a:pt x="1419225" y="38100"/>
                </a:lnTo>
                <a:lnTo>
                  <a:pt x="1416236" y="23252"/>
                </a:lnTo>
                <a:lnTo>
                  <a:pt x="1408080" y="11144"/>
                </a:lnTo>
                <a:lnTo>
                  <a:pt x="1395972" y="2988"/>
                </a:lnTo>
                <a:lnTo>
                  <a:pt x="1381125" y="0"/>
                </a:lnTo>
                <a:close/>
              </a:path>
            </a:pathLst>
          </a:custGeom>
          <a:solidFill>
            <a:srgbClr val="B12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9600" y="6724650"/>
            <a:ext cx="10972800" cy="133350"/>
          </a:xfrm>
          <a:custGeom>
            <a:avLst/>
            <a:gdLst/>
            <a:ahLst/>
            <a:cxnLst/>
            <a:rect l="l" t="t" r="r" b="b"/>
            <a:pathLst>
              <a:path w="10972800" h="133350">
                <a:moveTo>
                  <a:pt x="10972800" y="0"/>
                </a:moveTo>
                <a:lnTo>
                  <a:pt x="0" y="0"/>
                </a:lnTo>
                <a:lnTo>
                  <a:pt x="0" y="133350"/>
                </a:lnTo>
                <a:lnTo>
                  <a:pt x="10972800" y="133350"/>
                </a:lnTo>
                <a:lnTo>
                  <a:pt x="10972800" y="0"/>
                </a:lnTo>
                <a:close/>
              </a:path>
            </a:pathLst>
          </a:custGeom>
          <a:solidFill>
            <a:srgbClr val="D1A4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9294" y="13335"/>
            <a:ext cx="6157595" cy="8182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987" y="3342004"/>
            <a:ext cx="7686675" cy="265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mailto:nyaysetu101@gmail.com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yaysetu101@gmail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://www.ecourts.gov.in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nalsa.gov.in/" TargetMode="Externa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38675" cy="6858000"/>
            <a:chOff x="0" y="0"/>
            <a:chExt cx="463867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3119742"/>
              <a:ext cx="1771650" cy="2174875"/>
            </a:xfrm>
            <a:custGeom>
              <a:avLst/>
              <a:gdLst/>
              <a:ahLst/>
              <a:cxnLst/>
              <a:rect l="l" t="t" r="r" b="b"/>
              <a:pathLst>
                <a:path w="1771650" h="2174875">
                  <a:moveTo>
                    <a:pt x="0" y="0"/>
                  </a:moveTo>
                  <a:lnTo>
                    <a:pt x="0" y="2174389"/>
                  </a:lnTo>
                  <a:lnTo>
                    <a:pt x="25774" y="2168816"/>
                  </a:lnTo>
                  <a:lnTo>
                    <a:pt x="75334" y="2157627"/>
                  </a:lnTo>
                  <a:lnTo>
                    <a:pt x="124738" y="2145999"/>
                  </a:lnTo>
                  <a:lnTo>
                    <a:pt x="173984" y="2133936"/>
                  </a:lnTo>
                  <a:lnTo>
                    <a:pt x="223071" y="2121439"/>
                  </a:lnTo>
                  <a:lnTo>
                    <a:pt x="271996" y="2108510"/>
                  </a:lnTo>
                  <a:lnTo>
                    <a:pt x="320757" y="2095151"/>
                  </a:lnTo>
                  <a:lnTo>
                    <a:pt x="369353" y="2081364"/>
                  </a:lnTo>
                  <a:lnTo>
                    <a:pt x="417781" y="2067150"/>
                  </a:lnTo>
                  <a:lnTo>
                    <a:pt x="466041" y="2052513"/>
                  </a:lnTo>
                  <a:lnTo>
                    <a:pt x="514129" y="2037454"/>
                  </a:lnTo>
                  <a:lnTo>
                    <a:pt x="562044" y="2021975"/>
                  </a:lnTo>
                  <a:lnTo>
                    <a:pt x="609784" y="2006078"/>
                  </a:lnTo>
                  <a:lnTo>
                    <a:pt x="657347" y="1989765"/>
                  </a:lnTo>
                  <a:lnTo>
                    <a:pt x="704731" y="1973038"/>
                  </a:lnTo>
                  <a:lnTo>
                    <a:pt x="751934" y="1955899"/>
                  </a:lnTo>
                  <a:lnTo>
                    <a:pt x="798954" y="1938350"/>
                  </a:lnTo>
                  <a:lnTo>
                    <a:pt x="845790" y="1920392"/>
                  </a:lnTo>
                  <a:lnTo>
                    <a:pt x="892439" y="1902029"/>
                  </a:lnTo>
                  <a:lnTo>
                    <a:pt x="938900" y="1883262"/>
                  </a:lnTo>
                  <a:lnTo>
                    <a:pt x="985170" y="1864092"/>
                  </a:lnTo>
                  <a:lnTo>
                    <a:pt x="1031248" y="1844523"/>
                  </a:lnTo>
                  <a:lnTo>
                    <a:pt x="1077132" y="1824555"/>
                  </a:lnTo>
                  <a:lnTo>
                    <a:pt x="1122819" y="1804192"/>
                  </a:lnTo>
                  <a:lnTo>
                    <a:pt x="1168309" y="1783434"/>
                  </a:lnTo>
                  <a:lnTo>
                    <a:pt x="1213598" y="1762284"/>
                  </a:lnTo>
                  <a:lnTo>
                    <a:pt x="1258686" y="1740744"/>
                  </a:lnTo>
                  <a:lnTo>
                    <a:pt x="1303569" y="1718816"/>
                  </a:lnTo>
                  <a:lnTo>
                    <a:pt x="1348247" y="1696502"/>
                  </a:lnTo>
                  <a:lnTo>
                    <a:pt x="1392717" y="1673803"/>
                  </a:lnTo>
                  <a:lnTo>
                    <a:pt x="1436977" y="1650723"/>
                  </a:lnTo>
                  <a:lnTo>
                    <a:pt x="1481026" y="1627262"/>
                  </a:lnTo>
                  <a:lnTo>
                    <a:pt x="1524861" y="1603423"/>
                  </a:lnTo>
                  <a:lnTo>
                    <a:pt x="1568481" y="1579208"/>
                  </a:lnTo>
                  <a:lnTo>
                    <a:pt x="1611884" y="1554619"/>
                  </a:lnTo>
                  <a:lnTo>
                    <a:pt x="1771650" y="1457972"/>
                  </a:lnTo>
                  <a:lnTo>
                    <a:pt x="1586103" y="1196606"/>
                  </a:lnTo>
                  <a:lnTo>
                    <a:pt x="1554832" y="1157206"/>
                  </a:lnTo>
                  <a:lnTo>
                    <a:pt x="1523092" y="1118239"/>
                  </a:lnTo>
                  <a:lnTo>
                    <a:pt x="1490886" y="1079709"/>
                  </a:lnTo>
                  <a:lnTo>
                    <a:pt x="1458221" y="1041622"/>
                  </a:lnTo>
                  <a:lnTo>
                    <a:pt x="1425099" y="1003982"/>
                  </a:lnTo>
                  <a:lnTo>
                    <a:pt x="1391526" y="966795"/>
                  </a:lnTo>
                  <a:lnTo>
                    <a:pt x="1357506" y="930064"/>
                  </a:lnTo>
                  <a:lnTo>
                    <a:pt x="1323044" y="893794"/>
                  </a:lnTo>
                  <a:lnTo>
                    <a:pt x="1288144" y="857992"/>
                  </a:lnTo>
                  <a:lnTo>
                    <a:pt x="1252812" y="822660"/>
                  </a:lnTo>
                  <a:lnTo>
                    <a:pt x="1217051" y="787804"/>
                  </a:lnTo>
                  <a:lnTo>
                    <a:pt x="1180866" y="753429"/>
                  </a:lnTo>
                  <a:lnTo>
                    <a:pt x="1144262" y="719540"/>
                  </a:lnTo>
                  <a:lnTo>
                    <a:pt x="1107243" y="686141"/>
                  </a:lnTo>
                  <a:lnTo>
                    <a:pt x="1069814" y="653238"/>
                  </a:lnTo>
                  <a:lnTo>
                    <a:pt x="1031980" y="620834"/>
                  </a:lnTo>
                  <a:lnTo>
                    <a:pt x="993744" y="588935"/>
                  </a:lnTo>
                  <a:lnTo>
                    <a:pt x="955112" y="557546"/>
                  </a:lnTo>
                  <a:lnTo>
                    <a:pt x="916089" y="526671"/>
                  </a:lnTo>
                  <a:lnTo>
                    <a:pt x="876678" y="496315"/>
                  </a:lnTo>
                  <a:lnTo>
                    <a:pt x="836884" y="466483"/>
                  </a:lnTo>
                  <a:lnTo>
                    <a:pt x="796712" y="437180"/>
                  </a:lnTo>
                  <a:lnTo>
                    <a:pt x="756167" y="408410"/>
                  </a:lnTo>
                  <a:lnTo>
                    <a:pt x="715253" y="380179"/>
                  </a:lnTo>
                  <a:lnTo>
                    <a:pt x="673975" y="352491"/>
                  </a:lnTo>
                  <a:lnTo>
                    <a:pt x="632337" y="325351"/>
                  </a:lnTo>
                  <a:lnTo>
                    <a:pt x="590343" y="298763"/>
                  </a:lnTo>
                  <a:lnTo>
                    <a:pt x="547999" y="272733"/>
                  </a:lnTo>
                  <a:lnTo>
                    <a:pt x="505309" y="247265"/>
                  </a:lnTo>
                  <a:lnTo>
                    <a:pt x="462278" y="222364"/>
                  </a:lnTo>
                  <a:lnTo>
                    <a:pt x="418910" y="198035"/>
                  </a:lnTo>
                  <a:lnTo>
                    <a:pt x="375209" y="174283"/>
                  </a:lnTo>
                  <a:lnTo>
                    <a:pt x="331181" y="151113"/>
                  </a:lnTo>
                  <a:lnTo>
                    <a:pt x="286829" y="128528"/>
                  </a:lnTo>
                  <a:lnTo>
                    <a:pt x="242159" y="106535"/>
                  </a:lnTo>
                  <a:lnTo>
                    <a:pt x="197175" y="85137"/>
                  </a:lnTo>
                  <a:lnTo>
                    <a:pt x="151882" y="64340"/>
                  </a:lnTo>
                  <a:lnTo>
                    <a:pt x="106284" y="44148"/>
                  </a:lnTo>
                  <a:lnTo>
                    <a:pt x="60385" y="24567"/>
                  </a:lnTo>
                  <a:lnTo>
                    <a:pt x="14191" y="5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A4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638675" cy="4581525"/>
            </a:xfrm>
            <a:custGeom>
              <a:avLst/>
              <a:gdLst/>
              <a:ahLst/>
              <a:cxnLst/>
              <a:rect l="l" t="t" r="r" b="b"/>
              <a:pathLst>
                <a:path w="4638675" h="4581525">
                  <a:moveTo>
                    <a:pt x="4638675" y="0"/>
                  </a:moveTo>
                  <a:lnTo>
                    <a:pt x="0" y="0"/>
                  </a:lnTo>
                  <a:lnTo>
                    <a:pt x="0" y="3122246"/>
                  </a:lnTo>
                  <a:lnTo>
                    <a:pt x="14334" y="3127904"/>
                  </a:lnTo>
                  <a:lnTo>
                    <a:pt x="60550" y="3146882"/>
                  </a:lnTo>
                  <a:lnTo>
                    <a:pt x="106471" y="3166477"/>
                  </a:lnTo>
                  <a:lnTo>
                    <a:pt x="152092" y="3186683"/>
                  </a:lnTo>
                  <a:lnTo>
                    <a:pt x="197407" y="3207496"/>
                  </a:lnTo>
                  <a:lnTo>
                    <a:pt x="242413" y="3228910"/>
                  </a:lnTo>
                  <a:lnTo>
                    <a:pt x="287105" y="3250921"/>
                  </a:lnTo>
                  <a:lnTo>
                    <a:pt x="331478" y="3273524"/>
                  </a:lnTo>
                  <a:lnTo>
                    <a:pt x="375528" y="3296714"/>
                  </a:lnTo>
                  <a:lnTo>
                    <a:pt x="419250" y="3320487"/>
                  </a:lnTo>
                  <a:lnTo>
                    <a:pt x="462639" y="3344837"/>
                  </a:lnTo>
                  <a:lnTo>
                    <a:pt x="505692" y="3369760"/>
                  </a:lnTo>
                  <a:lnTo>
                    <a:pt x="548402" y="3395250"/>
                  </a:lnTo>
                  <a:lnTo>
                    <a:pt x="590767" y="3421304"/>
                  </a:lnTo>
                  <a:lnTo>
                    <a:pt x="632781" y="3447916"/>
                  </a:lnTo>
                  <a:lnTo>
                    <a:pt x="674439" y="3475081"/>
                  </a:lnTo>
                  <a:lnTo>
                    <a:pt x="715737" y="3502795"/>
                  </a:lnTo>
                  <a:lnTo>
                    <a:pt x="756671" y="3531052"/>
                  </a:lnTo>
                  <a:lnTo>
                    <a:pt x="797235" y="3559848"/>
                  </a:lnTo>
                  <a:lnTo>
                    <a:pt x="837426" y="3589178"/>
                  </a:lnTo>
                  <a:lnTo>
                    <a:pt x="877239" y="3619038"/>
                  </a:lnTo>
                  <a:lnTo>
                    <a:pt x="916669" y="3649421"/>
                  </a:lnTo>
                  <a:lnTo>
                    <a:pt x="955711" y="3680324"/>
                  </a:lnTo>
                  <a:lnTo>
                    <a:pt x="994361" y="3711742"/>
                  </a:lnTo>
                  <a:lnTo>
                    <a:pt x="1032615" y="3743670"/>
                  </a:lnTo>
                  <a:lnTo>
                    <a:pt x="1070467" y="3776102"/>
                  </a:lnTo>
                  <a:lnTo>
                    <a:pt x="1107914" y="3809035"/>
                  </a:lnTo>
                  <a:lnTo>
                    <a:pt x="1144950" y="3842463"/>
                  </a:lnTo>
                  <a:lnTo>
                    <a:pt x="1181571" y="3876382"/>
                  </a:lnTo>
                  <a:lnTo>
                    <a:pt x="1217773" y="3910786"/>
                  </a:lnTo>
                  <a:lnTo>
                    <a:pt x="1253550" y="3945671"/>
                  </a:lnTo>
                  <a:lnTo>
                    <a:pt x="1288899" y="3981032"/>
                  </a:lnTo>
                  <a:lnTo>
                    <a:pt x="1323815" y="4016865"/>
                  </a:lnTo>
                  <a:lnTo>
                    <a:pt x="1358293" y="4053163"/>
                  </a:lnTo>
                  <a:lnTo>
                    <a:pt x="1392328" y="4089923"/>
                  </a:lnTo>
                  <a:lnTo>
                    <a:pt x="1425916" y="4127140"/>
                  </a:lnTo>
                  <a:lnTo>
                    <a:pt x="1459053" y="4164809"/>
                  </a:lnTo>
                  <a:lnTo>
                    <a:pt x="1491733" y="4202924"/>
                  </a:lnTo>
                  <a:lnTo>
                    <a:pt x="1523953" y="4241482"/>
                  </a:lnTo>
                  <a:lnTo>
                    <a:pt x="1555707" y="4280477"/>
                  </a:lnTo>
                  <a:lnTo>
                    <a:pt x="1586992" y="4319905"/>
                  </a:lnTo>
                  <a:lnTo>
                    <a:pt x="1772666" y="4581525"/>
                  </a:lnTo>
                  <a:lnTo>
                    <a:pt x="1858518" y="4529455"/>
                  </a:lnTo>
                  <a:lnTo>
                    <a:pt x="1898838" y="4503404"/>
                  </a:lnTo>
                  <a:lnTo>
                    <a:pt x="1938943" y="4477023"/>
                  </a:lnTo>
                  <a:lnTo>
                    <a:pt x="1978831" y="4450311"/>
                  </a:lnTo>
                  <a:lnTo>
                    <a:pt x="2018501" y="4423272"/>
                  </a:lnTo>
                  <a:lnTo>
                    <a:pt x="2057950" y="4395906"/>
                  </a:lnTo>
                  <a:lnTo>
                    <a:pt x="2097177" y="4368216"/>
                  </a:lnTo>
                  <a:lnTo>
                    <a:pt x="2136180" y="4340204"/>
                  </a:lnTo>
                  <a:lnTo>
                    <a:pt x="2174958" y="4311870"/>
                  </a:lnTo>
                  <a:lnTo>
                    <a:pt x="2213508" y="4283218"/>
                  </a:lnTo>
                  <a:lnTo>
                    <a:pt x="2251829" y="4254249"/>
                  </a:lnTo>
                  <a:lnTo>
                    <a:pt x="2289920" y="4224965"/>
                  </a:lnTo>
                  <a:lnTo>
                    <a:pt x="2327778" y="4195367"/>
                  </a:lnTo>
                  <a:lnTo>
                    <a:pt x="2365402" y="4165457"/>
                  </a:lnTo>
                  <a:lnTo>
                    <a:pt x="2402790" y="4135238"/>
                  </a:lnTo>
                  <a:lnTo>
                    <a:pt x="2439940" y="4104710"/>
                  </a:lnTo>
                  <a:lnTo>
                    <a:pt x="2476851" y="4073876"/>
                  </a:lnTo>
                  <a:lnTo>
                    <a:pt x="2513521" y="4042738"/>
                  </a:lnTo>
                  <a:lnTo>
                    <a:pt x="2549948" y="4011297"/>
                  </a:lnTo>
                  <a:lnTo>
                    <a:pt x="2586131" y="3979556"/>
                  </a:lnTo>
                  <a:lnTo>
                    <a:pt x="2622067" y="3947515"/>
                  </a:lnTo>
                  <a:lnTo>
                    <a:pt x="2657756" y="3915177"/>
                  </a:lnTo>
                  <a:lnTo>
                    <a:pt x="2693195" y="3882544"/>
                  </a:lnTo>
                  <a:lnTo>
                    <a:pt x="2728383" y="3849617"/>
                  </a:lnTo>
                  <a:lnTo>
                    <a:pt x="2763317" y="3816399"/>
                  </a:lnTo>
                  <a:lnTo>
                    <a:pt x="2797997" y="3782890"/>
                  </a:lnTo>
                  <a:lnTo>
                    <a:pt x="2832420" y="3749094"/>
                  </a:lnTo>
                  <a:lnTo>
                    <a:pt x="2866585" y="3715011"/>
                  </a:lnTo>
                  <a:lnTo>
                    <a:pt x="2900490" y="3680643"/>
                  </a:lnTo>
                  <a:lnTo>
                    <a:pt x="2934133" y="3645993"/>
                  </a:lnTo>
                  <a:lnTo>
                    <a:pt x="2967513" y="3611062"/>
                  </a:lnTo>
                  <a:lnTo>
                    <a:pt x="3000628" y="3575852"/>
                  </a:lnTo>
                  <a:lnTo>
                    <a:pt x="3033476" y="3540365"/>
                  </a:lnTo>
                  <a:lnTo>
                    <a:pt x="3066056" y="3504602"/>
                  </a:lnTo>
                  <a:lnTo>
                    <a:pt x="3098365" y="3468565"/>
                  </a:lnTo>
                  <a:lnTo>
                    <a:pt x="3130402" y="3432257"/>
                  </a:lnTo>
                  <a:lnTo>
                    <a:pt x="3162166" y="3395679"/>
                  </a:lnTo>
                  <a:lnTo>
                    <a:pt x="3193654" y="3358832"/>
                  </a:lnTo>
                  <a:lnTo>
                    <a:pt x="3224865" y="3321719"/>
                  </a:lnTo>
                  <a:lnTo>
                    <a:pt x="3255797" y="3284341"/>
                  </a:lnTo>
                  <a:lnTo>
                    <a:pt x="3286449" y="3246701"/>
                  </a:lnTo>
                  <a:lnTo>
                    <a:pt x="3316818" y="3208800"/>
                  </a:lnTo>
                  <a:lnTo>
                    <a:pt x="3346903" y="3170639"/>
                  </a:lnTo>
                  <a:lnTo>
                    <a:pt x="3376703" y="3132221"/>
                  </a:lnTo>
                  <a:lnTo>
                    <a:pt x="3406215" y="3093548"/>
                  </a:lnTo>
                  <a:lnTo>
                    <a:pt x="3435438" y="3054621"/>
                  </a:lnTo>
                  <a:lnTo>
                    <a:pt x="3464370" y="3015441"/>
                  </a:lnTo>
                  <a:lnTo>
                    <a:pt x="3493009" y="2976012"/>
                  </a:lnTo>
                  <a:lnTo>
                    <a:pt x="3521354" y="2936335"/>
                  </a:lnTo>
                  <a:lnTo>
                    <a:pt x="3549403" y="2896411"/>
                  </a:lnTo>
                  <a:lnTo>
                    <a:pt x="3577154" y="2856242"/>
                  </a:lnTo>
                  <a:lnTo>
                    <a:pt x="3604606" y="2815830"/>
                  </a:lnTo>
                  <a:lnTo>
                    <a:pt x="3631757" y="2775178"/>
                  </a:lnTo>
                  <a:lnTo>
                    <a:pt x="3658604" y="2734286"/>
                  </a:lnTo>
                  <a:lnTo>
                    <a:pt x="3685147" y="2693156"/>
                  </a:lnTo>
                  <a:lnTo>
                    <a:pt x="3711384" y="2651791"/>
                  </a:lnTo>
                  <a:lnTo>
                    <a:pt x="3737313" y="2610192"/>
                  </a:lnTo>
                  <a:lnTo>
                    <a:pt x="3762931" y="2568362"/>
                  </a:lnTo>
                  <a:lnTo>
                    <a:pt x="3788239" y="2526300"/>
                  </a:lnTo>
                  <a:lnTo>
                    <a:pt x="3813233" y="2484011"/>
                  </a:lnTo>
                  <a:lnTo>
                    <a:pt x="3837912" y="2441495"/>
                  </a:lnTo>
                  <a:lnTo>
                    <a:pt x="3862274" y="2398754"/>
                  </a:lnTo>
                  <a:lnTo>
                    <a:pt x="3886318" y="2355790"/>
                  </a:lnTo>
                  <a:lnTo>
                    <a:pt x="3910042" y="2312605"/>
                  </a:lnTo>
                  <a:lnTo>
                    <a:pt x="3933444" y="2269201"/>
                  </a:lnTo>
                  <a:lnTo>
                    <a:pt x="3956523" y="2225579"/>
                  </a:lnTo>
                  <a:lnTo>
                    <a:pt x="3979276" y="2181742"/>
                  </a:lnTo>
                  <a:lnTo>
                    <a:pt x="4001703" y="2137690"/>
                  </a:lnTo>
                  <a:lnTo>
                    <a:pt x="4023800" y="2093427"/>
                  </a:lnTo>
                  <a:lnTo>
                    <a:pt x="4045567" y="2048953"/>
                  </a:lnTo>
                  <a:lnTo>
                    <a:pt x="4067003" y="2004270"/>
                  </a:lnTo>
                  <a:lnTo>
                    <a:pt x="4088104" y="1959381"/>
                  </a:lnTo>
                  <a:lnTo>
                    <a:pt x="4108869" y="1914287"/>
                  </a:lnTo>
                  <a:lnTo>
                    <a:pt x="4129298" y="1868991"/>
                  </a:lnTo>
                  <a:lnTo>
                    <a:pt x="4149387" y="1823492"/>
                  </a:lnTo>
                  <a:lnTo>
                    <a:pt x="4169136" y="1777795"/>
                  </a:lnTo>
                  <a:lnTo>
                    <a:pt x="4188542" y="1731899"/>
                  </a:lnTo>
                  <a:lnTo>
                    <a:pt x="4207604" y="1685808"/>
                  </a:lnTo>
                  <a:lnTo>
                    <a:pt x="4226320" y="1639523"/>
                  </a:lnTo>
                  <a:lnTo>
                    <a:pt x="4244689" y="1593046"/>
                  </a:lnTo>
                  <a:lnTo>
                    <a:pt x="4262708" y="1546379"/>
                  </a:lnTo>
                  <a:lnTo>
                    <a:pt x="4280376" y="1499522"/>
                  </a:lnTo>
                  <a:lnTo>
                    <a:pt x="4297691" y="1452479"/>
                  </a:lnTo>
                  <a:lnTo>
                    <a:pt x="4314652" y="1405251"/>
                  </a:lnTo>
                  <a:lnTo>
                    <a:pt x="4331257" y="1357840"/>
                  </a:lnTo>
                  <a:lnTo>
                    <a:pt x="4347504" y="1310248"/>
                  </a:lnTo>
                  <a:lnTo>
                    <a:pt x="4363391" y="1262476"/>
                  </a:lnTo>
                  <a:lnTo>
                    <a:pt x="4378917" y="1214527"/>
                  </a:lnTo>
                  <a:lnTo>
                    <a:pt x="4394080" y="1166401"/>
                  </a:lnTo>
                  <a:lnTo>
                    <a:pt x="4408878" y="1118101"/>
                  </a:lnTo>
                  <a:lnTo>
                    <a:pt x="4423309" y="1069630"/>
                  </a:lnTo>
                  <a:lnTo>
                    <a:pt x="4437372" y="1020987"/>
                  </a:lnTo>
                  <a:lnTo>
                    <a:pt x="4451066" y="972176"/>
                  </a:lnTo>
                  <a:lnTo>
                    <a:pt x="4464387" y="923198"/>
                  </a:lnTo>
                  <a:lnTo>
                    <a:pt x="4477335" y="874056"/>
                  </a:lnTo>
                  <a:lnTo>
                    <a:pt x="4489909" y="824749"/>
                  </a:lnTo>
                  <a:lnTo>
                    <a:pt x="4502105" y="775282"/>
                  </a:lnTo>
                  <a:lnTo>
                    <a:pt x="4513923" y="725655"/>
                  </a:lnTo>
                  <a:lnTo>
                    <a:pt x="4525360" y="675870"/>
                  </a:lnTo>
                  <a:lnTo>
                    <a:pt x="4536416" y="625929"/>
                  </a:lnTo>
                  <a:lnTo>
                    <a:pt x="4547087" y="575834"/>
                  </a:lnTo>
                  <a:lnTo>
                    <a:pt x="4557374" y="525586"/>
                  </a:lnTo>
                  <a:lnTo>
                    <a:pt x="4567273" y="475188"/>
                  </a:lnTo>
                  <a:lnTo>
                    <a:pt x="4576784" y="424642"/>
                  </a:lnTo>
                  <a:lnTo>
                    <a:pt x="4585903" y="373948"/>
                  </a:lnTo>
                  <a:lnTo>
                    <a:pt x="4594631" y="323109"/>
                  </a:lnTo>
                  <a:lnTo>
                    <a:pt x="4602965" y="272127"/>
                  </a:lnTo>
                  <a:lnTo>
                    <a:pt x="4610902" y="221003"/>
                  </a:lnTo>
                  <a:lnTo>
                    <a:pt x="4618443" y="169740"/>
                  </a:lnTo>
                  <a:lnTo>
                    <a:pt x="4625584" y="118339"/>
                  </a:lnTo>
                  <a:lnTo>
                    <a:pt x="4632325" y="66801"/>
                  </a:lnTo>
                  <a:lnTo>
                    <a:pt x="4638675" y="0"/>
                  </a:lnTo>
                  <a:close/>
                </a:path>
              </a:pathLst>
            </a:custGeom>
            <a:solidFill>
              <a:srgbClr val="B12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581525"/>
              <a:ext cx="2457450" cy="2276475"/>
            </a:xfrm>
            <a:custGeom>
              <a:avLst/>
              <a:gdLst/>
              <a:ahLst/>
              <a:cxnLst/>
              <a:rect l="l" t="t" r="r" b="b"/>
              <a:pathLst>
                <a:path w="2457450" h="2276475">
                  <a:moveTo>
                    <a:pt x="1776095" y="0"/>
                  </a:moveTo>
                  <a:lnTo>
                    <a:pt x="1615948" y="96774"/>
                  </a:lnTo>
                  <a:lnTo>
                    <a:pt x="1572451" y="121353"/>
                  </a:lnTo>
                  <a:lnTo>
                    <a:pt x="1528736" y="145559"/>
                  </a:lnTo>
                  <a:lnTo>
                    <a:pt x="1484805" y="169390"/>
                  </a:lnTo>
                  <a:lnTo>
                    <a:pt x="1440661" y="192844"/>
                  </a:lnTo>
                  <a:lnTo>
                    <a:pt x="1396305" y="215918"/>
                  </a:lnTo>
                  <a:lnTo>
                    <a:pt x="1351738" y="238611"/>
                  </a:lnTo>
                  <a:lnTo>
                    <a:pt x="1306964" y="260921"/>
                  </a:lnTo>
                  <a:lnTo>
                    <a:pt x="1261983" y="282846"/>
                  </a:lnTo>
                  <a:lnTo>
                    <a:pt x="1216798" y="304383"/>
                  </a:lnTo>
                  <a:lnTo>
                    <a:pt x="1171411" y="325530"/>
                  </a:lnTo>
                  <a:lnTo>
                    <a:pt x="1125823" y="346286"/>
                  </a:lnTo>
                  <a:lnTo>
                    <a:pt x="1080037" y="366649"/>
                  </a:lnTo>
                  <a:lnTo>
                    <a:pt x="1034054" y="386615"/>
                  </a:lnTo>
                  <a:lnTo>
                    <a:pt x="987877" y="406184"/>
                  </a:lnTo>
                  <a:lnTo>
                    <a:pt x="941507" y="425353"/>
                  </a:lnTo>
                  <a:lnTo>
                    <a:pt x="894946" y="444120"/>
                  </a:lnTo>
                  <a:lnTo>
                    <a:pt x="848196" y="462483"/>
                  </a:lnTo>
                  <a:lnTo>
                    <a:pt x="801259" y="480441"/>
                  </a:lnTo>
                  <a:lnTo>
                    <a:pt x="754138" y="497990"/>
                  </a:lnTo>
                  <a:lnTo>
                    <a:pt x="706833" y="515129"/>
                  </a:lnTo>
                  <a:lnTo>
                    <a:pt x="659347" y="531856"/>
                  </a:lnTo>
                  <a:lnTo>
                    <a:pt x="563839" y="564065"/>
                  </a:lnTo>
                  <a:lnTo>
                    <a:pt x="467630" y="594601"/>
                  </a:lnTo>
                  <a:lnTo>
                    <a:pt x="370734" y="623446"/>
                  </a:lnTo>
                  <a:lnTo>
                    <a:pt x="273168" y="650586"/>
                  </a:lnTo>
                  <a:lnTo>
                    <a:pt x="174947" y="676003"/>
                  </a:lnTo>
                  <a:lnTo>
                    <a:pt x="76085" y="699681"/>
                  </a:lnTo>
                  <a:lnTo>
                    <a:pt x="0" y="716558"/>
                  </a:lnTo>
                  <a:lnTo>
                    <a:pt x="0" y="2276475"/>
                  </a:lnTo>
                  <a:lnTo>
                    <a:pt x="2457440" y="2276475"/>
                  </a:lnTo>
                  <a:lnTo>
                    <a:pt x="2457125" y="2225307"/>
                  </a:lnTo>
                  <a:lnTo>
                    <a:pt x="2456156" y="2172778"/>
                  </a:lnTo>
                  <a:lnTo>
                    <a:pt x="2454544" y="2120416"/>
                  </a:lnTo>
                  <a:lnTo>
                    <a:pt x="2452295" y="2068226"/>
                  </a:lnTo>
                  <a:lnTo>
                    <a:pt x="2449413" y="2016213"/>
                  </a:lnTo>
                  <a:lnTo>
                    <a:pt x="2445901" y="1964379"/>
                  </a:lnTo>
                  <a:lnTo>
                    <a:pt x="2441763" y="1912731"/>
                  </a:lnTo>
                  <a:lnTo>
                    <a:pt x="2437003" y="1861271"/>
                  </a:lnTo>
                  <a:lnTo>
                    <a:pt x="2431625" y="1810003"/>
                  </a:lnTo>
                  <a:lnTo>
                    <a:pt x="2425634" y="1758933"/>
                  </a:lnTo>
                  <a:lnTo>
                    <a:pt x="2419033" y="1708064"/>
                  </a:lnTo>
                  <a:lnTo>
                    <a:pt x="2411826" y="1657400"/>
                  </a:lnTo>
                  <a:lnTo>
                    <a:pt x="2404017" y="1606946"/>
                  </a:lnTo>
                  <a:lnTo>
                    <a:pt x="2395610" y="1556706"/>
                  </a:lnTo>
                  <a:lnTo>
                    <a:pt x="2386609" y="1506683"/>
                  </a:lnTo>
                  <a:lnTo>
                    <a:pt x="2377018" y="1456882"/>
                  </a:lnTo>
                  <a:lnTo>
                    <a:pt x="2366841" y="1407308"/>
                  </a:lnTo>
                  <a:lnTo>
                    <a:pt x="2356083" y="1357964"/>
                  </a:lnTo>
                  <a:lnTo>
                    <a:pt x="2344746" y="1308855"/>
                  </a:lnTo>
                  <a:lnTo>
                    <a:pt x="2332835" y="1259984"/>
                  </a:lnTo>
                  <a:lnTo>
                    <a:pt x="2320353" y="1211356"/>
                  </a:lnTo>
                  <a:lnTo>
                    <a:pt x="2307306" y="1162976"/>
                  </a:lnTo>
                  <a:lnTo>
                    <a:pt x="2293696" y="1114846"/>
                  </a:lnTo>
                  <a:lnTo>
                    <a:pt x="2279529" y="1066973"/>
                  </a:lnTo>
                  <a:lnTo>
                    <a:pt x="2264807" y="1019358"/>
                  </a:lnTo>
                  <a:lnTo>
                    <a:pt x="2249534" y="972008"/>
                  </a:lnTo>
                  <a:lnTo>
                    <a:pt x="2233716" y="924925"/>
                  </a:lnTo>
                  <a:lnTo>
                    <a:pt x="2217355" y="878115"/>
                  </a:lnTo>
                  <a:lnTo>
                    <a:pt x="2200456" y="831581"/>
                  </a:lnTo>
                  <a:lnTo>
                    <a:pt x="2183022" y="785327"/>
                  </a:lnTo>
                  <a:lnTo>
                    <a:pt x="2165058" y="739358"/>
                  </a:lnTo>
                  <a:lnTo>
                    <a:pt x="2146567" y="693678"/>
                  </a:lnTo>
                  <a:lnTo>
                    <a:pt x="2127554" y="648291"/>
                  </a:lnTo>
                  <a:lnTo>
                    <a:pt x="2108022" y="603201"/>
                  </a:lnTo>
                  <a:lnTo>
                    <a:pt x="2087976" y="558412"/>
                  </a:lnTo>
                  <a:lnTo>
                    <a:pt x="2067420" y="513929"/>
                  </a:lnTo>
                  <a:lnTo>
                    <a:pt x="2046356" y="469756"/>
                  </a:lnTo>
                  <a:lnTo>
                    <a:pt x="2024790" y="425896"/>
                  </a:lnTo>
                  <a:lnTo>
                    <a:pt x="2002726" y="382355"/>
                  </a:lnTo>
                  <a:lnTo>
                    <a:pt x="1980166" y="339135"/>
                  </a:lnTo>
                  <a:lnTo>
                    <a:pt x="1957116" y="296243"/>
                  </a:lnTo>
                  <a:lnTo>
                    <a:pt x="1933580" y="253680"/>
                  </a:lnTo>
                  <a:lnTo>
                    <a:pt x="1909560" y="211453"/>
                  </a:lnTo>
                  <a:lnTo>
                    <a:pt x="1885062" y="169564"/>
                  </a:lnTo>
                  <a:lnTo>
                    <a:pt x="1860089" y="128019"/>
                  </a:lnTo>
                  <a:lnTo>
                    <a:pt x="1834644" y="86820"/>
                  </a:lnTo>
                  <a:lnTo>
                    <a:pt x="1808733" y="45974"/>
                  </a:lnTo>
                  <a:lnTo>
                    <a:pt x="1776095" y="0"/>
                  </a:lnTo>
                  <a:close/>
                </a:path>
              </a:pathLst>
            </a:custGeom>
            <a:solidFill>
              <a:srgbClr val="6B6C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748408" y="5172075"/>
            <a:ext cx="1443990" cy="1685925"/>
          </a:xfrm>
          <a:custGeom>
            <a:avLst/>
            <a:gdLst/>
            <a:ahLst/>
            <a:cxnLst/>
            <a:rect l="l" t="t" r="r" b="b"/>
            <a:pathLst>
              <a:path w="1443990" h="1685925">
                <a:moveTo>
                  <a:pt x="1443591" y="0"/>
                </a:moveTo>
                <a:lnTo>
                  <a:pt x="1243693" y="121284"/>
                </a:lnTo>
                <a:lnTo>
                  <a:pt x="1202577" y="149473"/>
                </a:lnTo>
                <a:lnTo>
                  <a:pt x="1161910" y="178259"/>
                </a:lnTo>
                <a:lnTo>
                  <a:pt x="1121698" y="207637"/>
                </a:lnTo>
                <a:lnTo>
                  <a:pt x="1081947" y="237600"/>
                </a:lnTo>
                <a:lnTo>
                  <a:pt x="1042664" y="268142"/>
                </a:lnTo>
                <a:lnTo>
                  <a:pt x="1003856" y="299257"/>
                </a:lnTo>
                <a:lnTo>
                  <a:pt x="965528" y="330937"/>
                </a:lnTo>
                <a:lnTo>
                  <a:pt x="927687" y="363178"/>
                </a:lnTo>
                <a:lnTo>
                  <a:pt x="890340" y="395972"/>
                </a:lnTo>
                <a:lnTo>
                  <a:pt x="853492" y="429313"/>
                </a:lnTo>
                <a:lnTo>
                  <a:pt x="817150" y="463195"/>
                </a:lnTo>
                <a:lnTo>
                  <a:pt x="781321" y="497612"/>
                </a:lnTo>
                <a:lnTo>
                  <a:pt x="746011" y="532556"/>
                </a:lnTo>
                <a:lnTo>
                  <a:pt x="711226" y="568023"/>
                </a:lnTo>
                <a:lnTo>
                  <a:pt x="676973" y="604004"/>
                </a:lnTo>
                <a:lnTo>
                  <a:pt x="643258" y="640495"/>
                </a:lnTo>
                <a:lnTo>
                  <a:pt x="610087" y="677489"/>
                </a:lnTo>
                <a:lnTo>
                  <a:pt x="577467" y="714979"/>
                </a:lnTo>
                <a:lnTo>
                  <a:pt x="545404" y="752959"/>
                </a:lnTo>
                <a:lnTo>
                  <a:pt x="513904" y="791422"/>
                </a:lnTo>
                <a:lnTo>
                  <a:pt x="482974" y="830363"/>
                </a:lnTo>
                <a:lnTo>
                  <a:pt x="452620" y="869775"/>
                </a:lnTo>
                <a:lnTo>
                  <a:pt x="422849" y="909652"/>
                </a:lnTo>
                <a:lnTo>
                  <a:pt x="393667" y="949987"/>
                </a:lnTo>
                <a:lnTo>
                  <a:pt x="365080" y="990774"/>
                </a:lnTo>
                <a:lnTo>
                  <a:pt x="337095" y="1032007"/>
                </a:lnTo>
                <a:lnTo>
                  <a:pt x="309718" y="1073679"/>
                </a:lnTo>
                <a:lnTo>
                  <a:pt x="282956" y="1115783"/>
                </a:lnTo>
                <a:lnTo>
                  <a:pt x="256814" y="1158315"/>
                </a:lnTo>
                <a:lnTo>
                  <a:pt x="231299" y="1201266"/>
                </a:lnTo>
                <a:lnTo>
                  <a:pt x="206418" y="1244632"/>
                </a:lnTo>
                <a:lnTo>
                  <a:pt x="182177" y="1288405"/>
                </a:lnTo>
                <a:lnTo>
                  <a:pt x="158582" y="1332579"/>
                </a:lnTo>
                <a:lnTo>
                  <a:pt x="135639" y="1377148"/>
                </a:lnTo>
                <a:lnTo>
                  <a:pt x="113356" y="1422106"/>
                </a:lnTo>
                <a:lnTo>
                  <a:pt x="91738" y="1467446"/>
                </a:lnTo>
                <a:lnTo>
                  <a:pt x="70792" y="1513161"/>
                </a:lnTo>
                <a:lnTo>
                  <a:pt x="50524" y="1559246"/>
                </a:lnTo>
                <a:lnTo>
                  <a:pt x="30940" y="1605694"/>
                </a:lnTo>
                <a:lnTo>
                  <a:pt x="12047" y="1652499"/>
                </a:lnTo>
                <a:lnTo>
                  <a:pt x="0" y="1685925"/>
                </a:lnTo>
                <a:lnTo>
                  <a:pt x="1443591" y="1685925"/>
                </a:lnTo>
                <a:lnTo>
                  <a:pt x="1443591" y="0"/>
                </a:lnTo>
                <a:close/>
              </a:path>
            </a:pathLst>
          </a:custGeom>
          <a:solidFill>
            <a:srgbClr val="B12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275" y="85725"/>
            <a:ext cx="3143250" cy="9179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115303" y="1170241"/>
            <a:ext cx="37179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B12B2E"/>
                </a:solidFill>
                <a:latin typeface="Ebrima"/>
                <a:cs typeface="Ebrima"/>
              </a:rPr>
              <a:t>Dr. D.</a:t>
            </a:r>
            <a:r>
              <a:rPr sz="2000" b="1" spc="-6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000" b="1" dirty="0">
                <a:solidFill>
                  <a:srgbClr val="B12B2E"/>
                </a:solidFill>
                <a:latin typeface="Ebrima"/>
                <a:cs typeface="Ebrima"/>
              </a:rPr>
              <a:t>Y.</a:t>
            </a:r>
            <a:r>
              <a:rPr sz="2000" b="1" spc="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000" b="1" dirty="0">
                <a:solidFill>
                  <a:srgbClr val="B12B2E"/>
                </a:solidFill>
                <a:latin typeface="Ebrima"/>
                <a:cs typeface="Ebrima"/>
              </a:rPr>
              <a:t>Patil</a:t>
            </a:r>
            <a:r>
              <a:rPr sz="2000" b="1" spc="-2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000" b="1" dirty="0">
                <a:solidFill>
                  <a:srgbClr val="B12B2E"/>
                </a:solidFill>
                <a:latin typeface="Ebrima"/>
                <a:cs typeface="Ebrima"/>
              </a:rPr>
              <a:t>Unitech</a:t>
            </a:r>
            <a:r>
              <a:rPr sz="2000" b="1" spc="-60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000" b="1" spc="-10" dirty="0">
                <a:solidFill>
                  <a:srgbClr val="B12B2E"/>
                </a:solidFill>
                <a:latin typeface="Ebrima"/>
                <a:cs typeface="Ebrima"/>
              </a:rPr>
              <a:t>Society’s</a:t>
            </a:r>
            <a:endParaRPr sz="2000">
              <a:latin typeface="Ebrima"/>
              <a:cs typeface="Ebri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287520" y="1683448"/>
            <a:ext cx="7355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B12B2E"/>
                </a:solidFill>
                <a:latin typeface="Ebrima"/>
                <a:cs typeface="Ebrima"/>
              </a:rPr>
              <a:t>Dr.</a:t>
            </a:r>
            <a:r>
              <a:rPr sz="2400" spc="-10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400" dirty="0">
                <a:solidFill>
                  <a:srgbClr val="B12B2E"/>
                </a:solidFill>
                <a:latin typeface="Ebrima"/>
                <a:cs typeface="Ebrima"/>
              </a:rPr>
              <a:t>D.</a:t>
            </a:r>
            <a:r>
              <a:rPr sz="2400" spc="-70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400" dirty="0">
                <a:solidFill>
                  <a:srgbClr val="B12B2E"/>
                </a:solidFill>
                <a:latin typeface="Ebrima"/>
                <a:cs typeface="Ebrima"/>
              </a:rPr>
              <a:t>Y.</a:t>
            </a:r>
            <a:r>
              <a:rPr sz="2400" spc="-7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400" dirty="0">
                <a:solidFill>
                  <a:srgbClr val="B12B2E"/>
                </a:solidFill>
                <a:latin typeface="Ebrima"/>
                <a:cs typeface="Ebrima"/>
              </a:rPr>
              <a:t>Patil</a:t>
            </a:r>
            <a:r>
              <a:rPr sz="2400" spc="-3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400" dirty="0">
                <a:solidFill>
                  <a:srgbClr val="B12B2E"/>
                </a:solidFill>
                <a:latin typeface="Ebrima"/>
                <a:cs typeface="Ebrima"/>
              </a:rPr>
              <a:t>Institute</a:t>
            </a:r>
            <a:r>
              <a:rPr sz="2400" spc="-50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400" dirty="0">
                <a:solidFill>
                  <a:srgbClr val="B12B2E"/>
                </a:solidFill>
                <a:latin typeface="Ebrima"/>
                <a:cs typeface="Ebrima"/>
              </a:rPr>
              <a:t>of</a:t>
            </a:r>
            <a:r>
              <a:rPr sz="2400" spc="-4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400" dirty="0">
                <a:solidFill>
                  <a:srgbClr val="B12B2E"/>
                </a:solidFill>
                <a:latin typeface="Ebrima"/>
                <a:cs typeface="Ebrima"/>
              </a:rPr>
              <a:t>Technology,</a:t>
            </a:r>
            <a:r>
              <a:rPr sz="2400" spc="-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400" dirty="0">
                <a:solidFill>
                  <a:srgbClr val="B12B2E"/>
                </a:solidFill>
                <a:latin typeface="Ebrima"/>
                <a:cs typeface="Ebrima"/>
              </a:rPr>
              <a:t>Pimpri,</a:t>
            </a:r>
            <a:r>
              <a:rPr sz="2400" spc="-7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400" spc="-20" dirty="0">
                <a:solidFill>
                  <a:srgbClr val="B12B2E"/>
                </a:solidFill>
                <a:latin typeface="Ebrima"/>
                <a:cs typeface="Ebrima"/>
              </a:rPr>
              <a:t>Pune</a:t>
            </a:r>
            <a:endParaRPr sz="2400">
              <a:latin typeface="Ebrima"/>
              <a:cs typeface="Ebri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24626" y="1547875"/>
            <a:ext cx="3899535" cy="0"/>
          </a:xfrm>
          <a:custGeom>
            <a:avLst/>
            <a:gdLst/>
            <a:ahLst/>
            <a:cxnLst/>
            <a:rect l="l" t="t" r="r" b="b"/>
            <a:pathLst>
              <a:path w="3899534">
                <a:moveTo>
                  <a:pt x="0" y="0"/>
                </a:moveTo>
                <a:lnTo>
                  <a:pt x="3899534" y="0"/>
                </a:lnTo>
              </a:path>
            </a:pathLst>
          </a:custGeom>
          <a:ln w="6350">
            <a:solidFill>
              <a:srgbClr val="6B6C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336919" y="6453223"/>
            <a:ext cx="2540635" cy="193675"/>
            <a:chOff x="6336919" y="6453223"/>
            <a:chExt cx="2540635" cy="1936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6919" y="6465570"/>
              <a:ext cx="1923161" cy="18129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096250" y="6453223"/>
              <a:ext cx="676910" cy="163830"/>
            </a:xfrm>
            <a:custGeom>
              <a:avLst/>
              <a:gdLst/>
              <a:ahLst/>
              <a:cxnLst/>
              <a:rect l="l" t="t" r="r" b="b"/>
              <a:pathLst>
                <a:path w="676909" h="163829">
                  <a:moveTo>
                    <a:pt x="676618" y="0"/>
                  </a:moveTo>
                  <a:lnTo>
                    <a:pt x="0" y="0"/>
                  </a:lnTo>
                  <a:lnTo>
                    <a:pt x="0" y="163411"/>
                  </a:lnTo>
                  <a:lnTo>
                    <a:pt x="676619" y="163411"/>
                  </a:lnTo>
                  <a:lnTo>
                    <a:pt x="676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37657" y="6472362"/>
              <a:ext cx="58419" cy="118110"/>
            </a:xfrm>
            <a:custGeom>
              <a:avLst/>
              <a:gdLst/>
              <a:ahLst/>
              <a:cxnLst/>
              <a:rect l="l" t="t" r="r" b="b"/>
              <a:pathLst>
                <a:path w="58420" h="118109">
                  <a:moveTo>
                    <a:pt x="57902" y="0"/>
                  </a:moveTo>
                  <a:lnTo>
                    <a:pt x="18879" y="8406"/>
                  </a:lnTo>
                  <a:lnTo>
                    <a:pt x="13361" y="25744"/>
                  </a:lnTo>
                  <a:lnTo>
                    <a:pt x="13361" y="39228"/>
                  </a:lnTo>
                  <a:lnTo>
                    <a:pt x="0" y="39228"/>
                  </a:lnTo>
                  <a:lnTo>
                    <a:pt x="0" y="58606"/>
                  </a:lnTo>
                  <a:lnTo>
                    <a:pt x="13361" y="58606"/>
                  </a:lnTo>
                  <a:lnTo>
                    <a:pt x="13361" y="117681"/>
                  </a:lnTo>
                  <a:lnTo>
                    <a:pt x="37342" y="117681"/>
                  </a:lnTo>
                  <a:lnTo>
                    <a:pt x="37342" y="58606"/>
                  </a:lnTo>
                  <a:lnTo>
                    <a:pt x="54520" y="58606"/>
                  </a:lnTo>
                  <a:lnTo>
                    <a:pt x="57902" y="39228"/>
                  </a:lnTo>
                  <a:lnTo>
                    <a:pt x="37342" y="39228"/>
                  </a:lnTo>
                  <a:lnTo>
                    <a:pt x="37342" y="22871"/>
                  </a:lnTo>
                  <a:lnTo>
                    <a:pt x="40324" y="19383"/>
                  </a:lnTo>
                  <a:lnTo>
                    <a:pt x="44534" y="19383"/>
                  </a:lnTo>
                  <a:lnTo>
                    <a:pt x="57902" y="19383"/>
                  </a:lnTo>
                  <a:lnTo>
                    <a:pt x="57902" y="0"/>
                  </a:lnTo>
                  <a:close/>
                </a:path>
              </a:pathLst>
            </a:custGeom>
            <a:solidFill>
              <a:srgbClr val="6B6C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33058" y="6484335"/>
              <a:ext cx="96791" cy="936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67634" y="6484335"/>
              <a:ext cx="89572" cy="8628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94902" y="6486507"/>
              <a:ext cx="141063" cy="8939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74113" y="6486604"/>
              <a:ext cx="94671" cy="9122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91575" y="6477001"/>
              <a:ext cx="85723" cy="9524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023995" y="2045652"/>
            <a:ext cx="6838950" cy="45745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8021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B12B2E"/>
                </a:solidFill>
                <a:latin typeface="Ebrima"/>
                <a:cs typeface="Ebrima"/>
              </a:rPr>
              <a:t>Department</a:t>
            </a:r>
            <a:r>
              <a:rPr sz="2000" b="1" spc="-3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000" b="1" dirty="0">
                <a:solidFill>
                  <a:srgbClr val="B12B2E"/>
                </a:solidFill>
                <a:latin typeface="Ebrima"/>
                <a:cs typeface="Ebrima"/>
              </a:rPr>
              <a:t>of</a:t>
            </a:r>
            <a:r>
              <a:rPr sz="2000" b="1" spc="-20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000" b="1" dirty="0">
                <a:solidFill>
                  <a:srgbClr val="B12B2E"/>
                </a:solidFill>
                <a:latin typeface="Ebrima"/>
                <a:cs typeface="Ebrima"/>
              </a:rPr>
              <a:t>Computer</a:t>
            </a:r>
            <a:r>
              <a:rPr sz="2000" b="1" spc="-50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2000" b="1" spc="-10" dirty="0">
                <a:solidFill>
                  <a:srgbClr val="B12B2E"/>
                </a:solidFill>
                <a:latin typeface="Ebrima"/>
                <a:cs typeface="Ebrima"/>
              </a:rPr>
              <a:t>Engineering</a:t>
            </a:r>
            <a:endParaRPr sz="2000">
              <a:latin typeface="Ebrima"/>
              <a:cs typeface="Ebrima"/>
            </a:endParaRPr>
          </a:p>
          <a:p>
            <a:pPr marL="3041650" marR="5080" indent="-2651760">
              <a:lnSpc>
                <a:spcPct val="101000"/>
              </a:lnSpc>
              <a:spcBef>
                <a:spcPts val="1385"/>
              </a:spcBef>
            </a:pPr>
            <a:r>
              <a:rPr sz="1550" b="1" dirty="0">
                <a:solidFill>
                  <a:srgbClr val="B12B2E"/>
                </a:solidFill>
                <a:latin typeface="Ebrima"/>
                <a:cs typeface="Ebrima"/>
              </a:rPr>
              <a:t>A</a:t>
            </a:r>
            <a:r>
              <a:rPr sz="1550" b="1" spc="100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1550" b="1" dirty="0">
                <a:solidFill>
                  <a:srgbClr val="B12B2E"/>
                </a:solidFill>
                <a:latin typeface="Ebrima"/>
                <a:cs typeface="Ebrima"/>
              </a:rPr>
              <a:t>CEP</a:t>
            </a:r>
            <a:r>
              <a:rPr sz="1550" b="1" spc="90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1550" b="1" dirty="0">
                <a:solidFill>
                  <a:srgbClr val="B12B2E"/>
                </a:solidFill>
                <a:latin typeface="Ebrima"/>
                <a:cs typeface="Ebrima"/>
              </a:rPr>
              <a:t>Project</a:t>
            </a:r>
            <a:r>
              <a:rPr sz="1550" b="1" spc="6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1550" b="1" dirty="0">
                <a:solidFill>
                  <a:srgbClr val="B12B2E"/>
                </a:solidFill>
                <a:latin typeface="Ebrima"/>
                <a:cs typeface="Ebrima"/>
              </a:rPr>
              <a:t>Presentation</a:t>
            </a:r>
            <a:r>
              <a:rPr sz="1550" b="1" spc="10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1550" b="1" dirty="0">
                <a:solidFill>
                  <a:srgbClr val="B12B2E"/>
                </a:solidFill>
                <a:latin typeface="Ebrima"/>
                <a:cs typeface="Ebrima"/>
              </a:rPr>
              <a:t>for</a:t>
            </a:r>
            <a:r>
              <a:rPr sz="1550" b="1" spc="5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1550" b="1" dirty="0">
                <a:solidFill>
                  <a:srgbClr val="B12B2E"/>
                </a:solidFill>
                <a:latin typeface="Ebrima"/>
                <a:cs typeface="Ebrima"/>
              </a:rPr>
              <a:t>the</a:t>
            </a:r>
            <a:r>
              <a:rPr sz="1550" b="1" spc="13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1550" b="1" dirty="0">
                <a:solidFill>
                  <a:srgbClr val="B12B2E"/>
                </a:solidFill>
                <a:latin typeface="Ebrima"/>
                <a:cs typeface="Ebrima"/>
              </a:rPr>
              <a:t>Degree</a:t>
            </a:r>
            <a:r>
              <a:rPr sz="1550" b="1" spc="55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1550" b="1" dirty="0">
                <a:solidFill>
                  <a:srgbClr val="B12B2E"/>
                </a:solidFill>
                <a:latin typeface="Ebrima"/>
                <a:cs typeface="Ebrima"/>
              </a:rPr>
              <a:t>of</a:t>
            </a:r>
            <a:r>
              <a:rPr sz="1550" b="1" spc="95" dirty="0">
                <a:solidFill>
                  <a:srgbClr val="B12B2E"/>
                </a:solidFill>
                <a:latin typeface="Ebrima"/>
                <a:cs typeface="Ebrima"/>
              </a:rPr>
              <a:t>  </a:t>
            </a:r>
            <a:r>
              <a:rPr sz="1550" b="1" dirty="0">
                <a:solidFill>
                  <a:srgbClr val="B12B2E"/>
                </a:solidFill>
                <a:latin typeface="Ebrima"/>
                <a:cs typeface="Ebrima"/>
              </a:rPr>
              <a:t>Bachelor</a:t>
            </a:r>
            <a:r>
              <a:rPr sz="1550" b="1" spc="50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1550" b="1" dirty="0">
                <a:solidFill>
                  <a:srgbClr val="B12B2E"/>
                </a:solidFill>
                <a:latin typeface="Ebrima"/>
                <a:cs typeface="Ebrima"/>
              </a:rPr>
              <a:t>in</a:t>
            </a:r>
            <a:r>
              <a:rPr sz="1550" b="1" spc="110" dirty="0">
                <a:solidFill>
                  <a:srgbClr val="B12B2E"/>
                </a:solidFill>
                <a:latin typeface="Ebrima"/>
                <a:cs typeface="Ebrima"/>
              </a:rPr>
              <a:t> </a:t>
            </a:r>
            <a:r>
              <a:rPr sz="1550" b="1" spc="-10" dirty="0">
                <a:solidFill>
                  <a:srgbClr val="B12B2E"/>
                </a:solidFill>
                <a:latin typeface="Ebrima"/>
                <a:cs typeface="Ebrima"/>
              </a:rPr>
              <a:t>Computer Engineering</a:t>
            </a:r>
            <a:endParaRPr sz="155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000" b="1" dirty="0">
                <a:solidFill>
                  <a:srgbClr val="71551E"/>
                </a:solidFill>
                <a:latin typeface="Times New Roman"/>
                <a:cs typeface="Times New Roman"/>
              </a:rPr>
              <a:t>Group</a:t>
            </a:r>
            <a:r>
              <a:rPr sz="2000" b="1" spc="-25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71551E"/>
                </a:solidFill>
                <a:latin typeface="Times New Roman"/>
                <a:cs typeface="Times New Roman"/>
              </a:rPr>
              <a:t>Member</a:t>
            </a:r>
            <a:r>
              <a:rPr sz="2000" b="1" spc="-90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71551E"/>
                </a:solidFill>
                <a:latin typeface="Times New Roman"/>
                <a:cs typeface="Times New Roman"/>
              </a:rPr>
              <a:t>Name</a:t>
            </a:r>
            <a:r>
              <a:rPr sz="2000" b="1" spc="-20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71551E"/>
                </a:solidFill>
                <a:latin typeface="Times New Roman"/>
                <a:cs typeface="Times New Roman"/>
              </a:rPr>
              <a:t>and</a:t>
            </a:r>
            <a:r>
              <a:rPr sz="2000" b="1" spc="-25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71551E"/>
                </a:solidFill>
                <a:latin typeface="Times New Roman"/>
                <a:cs typeface="Times New Roman"/>
              </a:rPr>
              <a:t>Roll</a:t>
            </a:r>
            <a:r>
              <a:rPr sz="2000" b="1" spc="-60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71551E"/>
                </a:solidFill>
                <a:latin typeface="Times New Roman"/>
                <a:cs typeface="Times New Roman"/>
              </a:rPr>
              <a:t>Number: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71551E"/>
                </a:solidFill>
                <a:latin typeface="Times New Roman"/>
                <a:cs typeface="Times New Roman"/>
              </a:rPr>
              <a:t>Name:</a:t>
            </a:r>
            <a:r>
              <a:rPr sz="2000" spc="-60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71551E"/>
                </a:solidFill>
                <a:latin typeface="Times New Roman"/>
                <a:cs typeface="Times New Roman"/>
              </a:rPr>
              <a:t>1)</a:t>
            </a:r>
            <a:r>
              <a:rPr sz="2000" spc="-20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71551E"/>
                </a:solidFill>
                <a:latin typeface="Times New Roman"/>
                <a:cs typeface="Times New Roman"/>
              </a:rPr>
              <a:t>Khyati</a:t>
            </a:r>
            <a:r>
              <a:rPr sz="2000" spc="-55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71551E"/>
                </a:solidFill>
                <a:latin typeface="Times New Roman"/>
                <a:cs typeface="Times New Roman"/>
              </a:rPr>
              <a:t>Chaudhari</a:t>
            </a:r>
            <a:r>
              <a:rPr sz="2000" spc="-55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71551E"/>
                </a:solidFill>
                <a:latin typeface="Times New Roman"/>
                <a:cs typeface="Times New Roman"/>
              </a:rPr>
              <a:t>(SCOB01)</a:t>
            </a:r>
            <a:endParaRPr sz="2000">
              <a:latin typeface="Times New Roman"/>
              <a:cs typeface="Times New Roman"/>
            </a:endParaRPr>
          </a:p>
          <a:p>
            <a:pPr marL="1040765" indent="-266065">
              <a:lnSpc>
                <a:spcPct val="100000"/>
              </a:lnSpc>
              <a:spcBef>
                <a:spcPts val="5"/>
              </a:spcBef>
              <a:buAutoNum type="arabicParenR" startAt="2"/>
              <a:tabLst>
                <a:tab pos="1040765" algn="l"/>
              </a:tabLst>
            </a:pPr>
            <a:r>
              <a:rPr sz="2000" spc="-10" dirty="0">
                <a:solidFill>
                  <a:srgbClr val="71551E"/>
                </a:solidFill>
                <a:latin typeface="Times New Roman"/>
                <a:cs typeface="Times New Roman"/>
              </a:rPr>
              <a:t>Tanishka</a:t>
            </a:r>
            <a:r>
              <a:rPr sz="2000" spc="-35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71551E"/>
                </a:solidFill>
                <a:latin typeface="Times New Roman"/>
                <a:cs typeface="Times New Roman"/>
              </a:rPr>
              <a:t>Dalvi</a:t>
            </a:r>
            <a:r>
              <a:rPr sz="2000" spc="-70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71551E"/>
                </a:solidFill>
                <a:latin typeface="Times New Roman"/>
                <a:cs typeface="Times New Roman"/>
              </a:rPr>
              <a:t>(SCOB02)</a:t>
            </a:r>
            <a:endParaRPr sz="2000">
              <a:latin typeface="Times New Roman"/>
              <a:cs typeface="Times New Roman"/>
            </a:endParaRPr>
          </a:p>
          <a:p>
            <a:pPr marL="1049655" indent="-274955">
              <a:lnSpc>
                <a:spcPct val="100000"/>
              </a:lnSpc>
              <a:buAutoNum type="arabicParenR" startAt="2"/>
              <a:tabLst>
                <a:tab pos="1049655" algn="l"/>
              </a:tabLst>
            </a:pPr>
            <a:r>
              <a:rPr sz="2000" dirty="0">
                <a:solidFill>
                  <a:srgbClr val="71551E"/>
                </a:solidFill>
                <a:latin typeface="Times New Roman"/>
                <a:cs typeface="Times New Roman"/>
              </a:rPr>
              <a:t>Soham</a:t>
            </a:r>
            <a:r>
              <a:rPr sz="2000" spc="-55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71551E"/>
                </a:solidFill>
                <a:latin typeface="Times New Roman"/>
                <a:cs typeface="Times New Roman"/>
              </a:rPr>
              <a:t>Malpure</a:t>
            </a:r>
            <a:r>
              <a:rPr sz="2000" spc="-30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71551E"/>
                </a:solidFill>
                <a:latin typeface="Times New Roman"/>
                <a:cs typeface="Times New Roman"/>
              </a:rPr>
              <a:t>(SCOB13)</a:t>
            </a:r>
            <a:endParaRPr sz="2000">
              <a:latin typeface="Times New Roman"/>
              <a:cs typeface="Times New Roman"/>
            </a:endParaRPr>
          </a:p>
          <a:p>
            <a:pPr marL="1049655" indent="-274955">
              <a:lnSpc>
                <a:spcPct val="100000"/>
              </a:lnSpc>
              <a:spcBef>
                <a:spcPts val="5"/>
              </a:spcBef>
              <a:buAutoNum type="arabicParenR" startAt="2"/>
              <a:tabLst>
                <a:tab pos="1049655" algn="l"/>
              </a:tabLst>
            </a:pPr>
            <a:r>
              <a:rPr sz="2000" dirty="0">
                <a:solidFill>
                  <a:srgbClr val="71551E"/>
                </a:solidFill>
                <a:latin typeface="Times New Roman"/>
                <a:cs typeface="Times New Roman"/>
              </a:rPr>
              <a:t>Shantanu</a:t>
            </a:r>
            <a:r>
              <a:rPr sz="2000" spc="-50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71551E"/>
                </a:solidFill>
                <a:latin typeface="Times New Roman"/>
                <a:cs typeface="Times New Roman"/>
              </a:rPr>
              <a:t>Mhalaskar</a:t>
            </a:r>
            <a:r>
              <a:rPr sz="2000" spc="-65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71551E"/>
                </a:solidFill>
                <a:latin typeface="Times New Roman"/>
                <a:cs typeface="Times New Roman"/>
              </a:rPr>
              <a:t>(SCOB19)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150" b="1" spc="-10" dirty="0">
                <a:solidFill>
                  <a:srgbClr val="71551E"/>
                </a:solidFill>
                <a:latin typeface="Times New Roman"/>
                <a:cs typeface="Times New Roman"/>
              </a:rPr>
              <a:t>GUIDE: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100" b="1" dirty="0">
                <a:solidFill>
                  <a:srgbClr val="71551E"/>
                </a:solidFill>
                <a:latin typeface="Times New Roman"/>
                <a:cs typeface="Times New Roman"/>
              </a:rPr>
              <a:t>Name:</a:t>
            </a:r>
            <a:r>
              <a:rPr sz="2100" b="1" spc="-65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71551E"/>
                </a:solidFill>
                <a:latin typeface="Times New Roman"/>
                <a:cs typeface="Times New Roman"/>
              </a:rPr>
              <a:t>Mrs.</a:t>
            </a:r>
            <a:r>
              <a:rPr sz="2100" b="1" spc="-40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100" b="1" spc="-25" dirty="0">
                <a:solidFill>
                  <a:srgbClr val="71551E"/>
                </a:solidFill>
                <a:latin typeface="Times New Roman"/>
                <a:cs typeface="Times New Roman"/>
              </a:rPr>
              <a:t>Vasudha</a:t>
            </a:r>
            <a:r>
              <a:rPr sz="2100" b="1" spc="-45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100" b="1" spc="-10" dirty="0">
                <a:solidFill>
                  <a:srgbClr val="71551E"/>
                </a:solidFill>
                <a:latin typeface="Times New Roman"/>
                <a:cs typeface="Times New Roman"/>
              </a:rPr>
              <a:t>Phaltankar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850" spc="-10" dirty="0">
                <a:solidFill>
                  <a:srgbClr val="71551E"/>
                </a:solidFill>
                <a:latin typeface="Times New Roman"/>
                <a:cs typeface="Times New Roman"/>
              </a:rPr>
              <a:t>Designation: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71551E"/>
                </a:solidFill>
                <a:latin typeface="Times New Roman"/>
                <a:cs typeface="Times New Roman"/>
              </a:rPr>
              <a:t>A.Y</a:t>
            </a:r>
            <a:r>
              <a:rPr sz="2000" b="1" spc="-90" dirty="0">
                <a:solidFill>
                  <a:srgbClr val="71551E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71551E"/>
                </a:solidFill>
                <a:latin typeface="Times New Roman"/>
                <a:cs typeface="Times New Roman"/>
              </a:rPr>
              <a:t>2025-</a:t>
            </a:r>
            <a:r>
              <a:rPr sz="2000" b="1" spc="-20" dirty="0">
                <a:solidFill>
                  <a:srgbClr val="71551E"/>
                </a:solidFill>
                <a:latin typeface="Times New Roman"/>
                <a:cs typeface="Times New Roman"/>
              </a:rPr>
              <a:t>2026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895350"/>
            <a:ext cx="1419225" cy="76200"/>
          </a:xfrm>
          <a:custGeom>
            <a:avLst/>
            <a:gdLst/>
            <a:ahLst/>
            <a:cxnLst/>
            <a:rect l="l" t="t" r="r" b="b"/>
            <a:pathLst>
              <a:path w="1419225" h="76200">
                <a:moveTo>
                  <a:pt x="1381125" y="0"/>
                </a:moveTo>
                <a:lnTo>
                  <a:pt x="38100" y="0"/>
                </a:lnTo>
                <a:lnTo>
                  <a:pt x="23268" y="2988"/>
                </a:lnTo>
                <a:lnTo>
                  <a:pt x="11158" y="11144"/>
                </a:lnTo>
                <a:lnTo>
                  <a:pt x="2993" y="23252"/>
                </a:lnTo>
                <a:lnTo>
                  <a:pt x="0" y="38100"/>
                </a:lnTo>
                <a:lnTo>
                  <a:pt x="2993" y="52947"/>
                </a:lnTo>
                <a:lnTo>
                  <a:pt x="11158" y="65055"/>
                </a:lnTo>
                <a:lnTo>
                  <a:pt x="23268" y="73211"/>
                </a:lnTo>
                <a:lnTo>
                  <a:pt x="38100" y="76200"/>
                </a:lnTo>
                <a:lnTo>
                  <a:pt x="1381125" y="76200"/>
                </a:lnTo>
                <a:lnTo>
                  <a:pt x="1395972" y="73211"/>
                </a:lnTo>
                <a:lnTo>
                  <a:pt x="1408080" y="65055"/>
                </a:lnTo>
                <a:lnTo>
                  <a:pt x="1416236" y="52947"/>
                </a:lnTo>
                <a:lnTo>
                  <a:pt x="1419225" y="38100"/>
                </a:lnTo>
                <a:lnTo>
                  <a:pt x="1416236" y="23252"/>
                </a:lnTo>
                <a:lnTo>
                  <a:pt x="1408080" y="11144"/>
                </a:lnTo>
                <a:lnTo>
                  <a:pt x="1395972" y="2988"/>
                </a:lnTo>
                <a:lnTo>
                  <a:pt x="1381125" y="0"/>
                </a:lnTo>
                <a:close/>
              </a:path>
            </a:pathLst>
          </a:custGeom>
          <a:solidFill>
            <a:srgbClr val="B12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600" y="6724650"/>
            <a:ext cx="10972800" cy="133350"/>
          </a:xfrm>
          <a:custGeom>
            <a:avLst/>
            <a:gdLst/>
            <a:ahLst/>
            <a:cxnLst/>
            <a:rect l="l" t="t" r="r" b="b"/>
            <a:pathLst>
              <a:path w="10972800" h="133350">
                <a:moveTo>
                  <a:pt x="10972800" y="0"/>
                </a:moveTo>
                <a:lnTo>
                  <a:pt x="0" y="0"/>
                </a:lnTo>
                <a:lnTo>
                  <a:pt x="0" y="133350"/>
                </a:lnTo>
                <a:lnTo>
                  <a:pt x="10972800" y="133350"/>
                </a:lnTo>
                <a:lnTo>
                  <a:pt x="10972800" y="0"/>
                </a:lnTo>
                <a:close/>
              </a:path>
            </a:pathLst>
          </a:custGeom>
          <a:solidFill>
            <a:srgbClr val="D1A4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4362" y="6224587"/>
            <a:ext cx="10973435" cy="0"/>
          </a:xfrm>
          <a:custGeom>
            <a:avLst/>
            <a:gdLst/>
            <a:ahLst/>
            <a:cxnLst/>
            <a:rect l="l" t="t" r="r" b="b"/>
            <a:pathLst>
              <a:path w="10973435">
                <a:moveTo>
                  <a:pt x="0" y="0"/>
                </a:moveTo>
                <a:lnTo>
                  <a:pt x="10972863" y="0"/>
                </a:lnTo>
              </a:path>
            </a:pathLst>
          </a:custGeom>
          <a:ln w="6350">
            <a:solidFill>
              <a:srgbClr val="B12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994" y="335978"/>
            <a:ext cx="3814953" cy="40989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21994" y="6412229"/>
            <a:ext cx="7479030" cy="142875"/>
            <a:chOff x="721994" y="6412229"/>
            <a:chExt cx="7479030" cy="1428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994" y="6412229"/>
              <a:ext cx="2036952" cy="1428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3669" y="6412229"/>
              <a:ext cx="76200" cy="1428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30118" y="6412229"/>
              <a:ext cx="5470652" cy="14287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77651" y="6404609"/>
            <a:ext cx="191134" cy="15271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00392" y="902272"/>
            <a:ext cx="4735830" cy="529971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45415" indent="-140970">
              <a:lnSpc>
                <a:spcPct val="100000"/>
              </a:lnSpc>
              <a:spcBef>
                <a:spcPts val="1535"/>
              </a:spcBef>
              <a:buSzPct val="95652"/>
              <a:buFont typeface="Wingdings"/>
              <a:buChar char=""/>
              <a:tabLst>
                <a:tab pos="145415" algn="l"/>
              </a:tabLst>
            </a:pPr>
            <a:r>
              <a:rPr sz="2300" b="1" spc="-10" dirty="0">
                <a:latin typeface="Times New Roman"/>
                <a:cs typeface="Times New Roman"/>
              </a:rPr>
              <a:t>Introduction</a:t>
            </a:r>
            <a:endParaRPr sz="2300" dirty="0">
              <a:latin typeface="Times New Roman"/>
              <a:cs typeface="Times New Roman"/>
            </a:endParaRPr>
          </a:p>
          <a:p>
            <a:pPr marL="146050" indent="-141605">
              <a:lnSpc>
                <a:spcPct val="100000"/>
              </a:lnSpc>
              <a:spcBef>
                <a:spcPts val="1445"/>
              </a:spcBef>
              <a:buSzPct val="95652"/>
              <a:buFont typeface="Wingdings"/>
              <a:buChar char=""/>
              <a:tabLst>
                <a:tab pos="146050" algn="l"/>
              </a:tabLst>
            </a:pPr>
            <a:r>
              <a:rPr sz="2300" b="1" spc="-10" dirty="0">
                <a:latin typeface="Times New Roman"/>
                <a:cs typeface="Times New Roman"/>
              </a:rPr>
              <a:t>Motivation</a:t>
            </a:r>
            <a:endParaRPr sz="2300" dirty="0">
              <a:latin typeface="Times New Roman"/>
              <a:cs typeface="Times New Roman"/>
            </a:endParaRPr>
          </a:p>
          <a:p>
            <a:pPr marL="145415" indent="-140970">
              <a:lnSpc>
                <a:spcPct val="100000"/>
              </a:lnSpc>
              <a:spcBef>
                <a:spcPts val="1370"/>
              </a:spcBef>
              <a:buSzPct val="95652"/>
              <a:buFont typeface="Wingdings"/>
              <a:buChar char=""/>
              <a:tabLst>
                <a:tab pos="145415" algn="l"/>
              </a:tabLst>
            </a:pPr>
            <a:r>
              <a:rPr sz="2300" b="1" dirty="0">
                <a:latin typeface="Times New Roman"/>
                <a:cs typeface="Times New Roman"/>
              </a:rPr>
              <a:t>Problem</a:t>
            </a:r>
            <a:r>
              <a:rPr sz="2300" b="1" spc="-6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Statement</a:t>
            </a:r>
            <a:endParaRPr sz="2300" dirty="0">
              <a:latin typeface="Times New Roman"/>
              <a:cs typeface="Times New Roman"/>
            </a:endParaRPr>
          </a:p>
          <a:p>
            <a:pPr marL="145415" indent="-140970">
              <a:lnSpc>
                <a:spcPct val="100000"/>
              </a:lnSpc>
              <a:spcBef>
                <a:spcPts val="1370"/>
              </a:spcBef>
              <a:buSzPct val="95652"/>
              <a:buFont typeface="Wingdings"/>
              <a:buChar char=""/>
              <a:tabLst>
                <a:tab pos="145415" algn="l"/>
              </a:tabLst>
            </a:pPr>
            <a:r>
              <a:rPr sz="2300" b="1" dirty="0">
                <a:latin typeface="Times New Roman"/>
                <a:cs typeface="Times New Roman"/>
              </a:rPr>
              <a:t>Scope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&amp;</a:t>
            </a:r>
            <a:r>
              <a:rPr sz="2300" b="1" spc="25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Objective</a:t>
            </a:r>
            <a:endParaRPr sz="2300" dirty="0">
              <a:latin typeface="Times New Roman"/>
              <a:cs typeface="Times New Roman"/>
            </a:endParaRPr>
          </a:p>
          <a:p>
            <a:pPr marL="146050" indent="-141605">
              <a:lnSpc>
                <a:spcPct val="100000"/>
              </a:lnSpc>
              <a:spcBef>
                <a:spcPts val="1370"/>
              </a:spcBef>
              <a:buSzPct val="95652"/>
              <a:buFont typeface="Wingdings"/>
              <a:buChar char=""/>
              <a:tabLst>
                <a:tab pos="146050" algn="l"/>
              </a:tabLst>
            </a:pPr>
            <a:r>
              <a:rPr sz="2300" b="1" dirty="0">
                <a:latin typeface="Times New Roman"/>
                <a:cs typeface="Times New Roman"/>
              </a:rPr>
              <a:t>Requirement</a:t>
            </a:r>
            <a:r>
              <a:rPr sz="2300" b="1" spc="-11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Analysis</a:t>
            </a:r>
            <a:endParaRPr sz="2300" dirty="0">
              <a:latin typeface="Times New Roman"/>
              <a:cs typeface="Times New Roman"/>
            </a:endParaRPr>
          </a:p>
          <a:p>
            <a:pPr marL="145415" indent="-140970">
              <a:lnSpc>
                <a:spcPct val="100000"/>
              </a:lnSpc>
              <a:spcBef>
                <a:spcPts val="1375"/>
              </a:spcBef>
              <a:buSzPct val="95652"/>
              <a:buFont typeface="Wingdings"/>
              <a:buChar char=""/>
              <a:tabLst>
                <a:tab pos="145415" algn="l"/>
              </a:tabLst>
            </a:pPr>
            <a:r>
              <a:rPr sz="2300" b="1" dirty="0">
                <a:latin typeface="Times New Roman"/>
                <a:cs typeface="Times New Roman"/>
              </a:rPr>
              <a:t>System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Architecture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/</a:t>
            </a:r>
            <a:r>
              <a:rPr sz="2300" b="1" spc="-3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Flow</a:t>
            </a:r>
            <a:r>
              <a:rPr sz="2300" b="1" spc="-2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Diagram</a:t>
            </a:r>
            <a:endParaRPr sz="2300" dirty="0">
              <a:latin typeface="Times New Roman"/>
              <a:cs typeface="Times New Roman"/>
            </a:endParaRPr>
          </a:p>
          <a:p>
            <a:pPr marL="145415" indent="-140970">
              <a:lnSpc>
                <a:spcPct val="100000"/>
              </a:lnSpc>
              <a:spcBef>
                <a:spcPts val="1445"/>
              </a:spcBef>
              <a:buSzPct val="95652"/>
              <a:buFont typeface="Wingdings"/>
              <a:buChar char=""/>
              <a:tabLst>
                <a:tab pos="145415" algn="l"/>
              </a:tabLst>
            </a:pPr>
            <a:r>
              <a:rPr sz="2300" b="1" spc="-10" dirty="0">
                <a:latin typeface="Times New Roman"/>
                <a:cs typeface="Times New Roman"/>
              </a:rPr>
              <a:t>Algorithm/Methods</a:t>
            </a:r>
            <a:endParaRPr sz="2300" dirty="0">
              <a:latin typeface="Times New Roman"/>
              <a:cs typeface="Times New Roman"/>
            </a:endParaRPr>
          </a:p>
          <a:p>
            <a:pPr marL="145415" indent="-140970">
              <a:lnSpc>
                <a:spcPct val="100000"/>
              </a:lnSpc>
              <a:spcBef>
                <a:spcPts val="1370"/>
              </a:spcBef>
              <a:buSzPct val="95652"/>
              <a:buFont typeface="Wingdings"/>
              <a:buChar char=""/>
              <a:tabLst>
                <a:tab pos="145415" algn="l"/>
              </a:tabLst>
            </a:pPr>
            <a:r>
              <a:rPr sz="2300" b="1" spc="-10" dirty="0">
                <a:latin typeface="Times New Roman"/>
                <a:cs typeface="Times New Roman"/>
              </a:rPr>
              <a:t>Conclusion</a:t>
            </a:r>
            <a:endParaRPr sz="2300" dirty="0">
              <a:latin typeface="Times New Roman"/>
              <a:cs typeface="Times New Roman"/>
            </a:endParaRPr>
          </a:p>
          <a:p>
            <a:pPr marL="219075" indent="-206375">
              <a:lnSpc>
                <a:spcPct val="100000"/>
              </a:lnSpc>
              <a:spcBef>
                <a:spcPts val="1370"/>
              </a:spcBef>
              <a:buSzPct val="95652"/>
              <a:buFont typeface="Wingdings"/>
              <a:buChar char=""/>
              <a:tabLst>
                <a:tab pos="219075" algn="l"/>
              </a:tabLst>
            </a:pPr>
            <a:r>
              <a:rPr sz="2300" b="1" dirty="0">
                <a:latin typeface="Times New Roman"/>
                <a:cs typeface="Times New Roman"/>
              </a:rPr>
              <a:t>Future</a:t>
            </a:r>
            <a:r>
              <a:rPr sz="2300" b="1" spc="-65" dirty="0">
                <a:latin typeface="Times New Roman"/>
                <a:cs typeface="Times New Roman"/>
              </a:rPr>
              <a:t> </a:t>
            </a:r>
            <a:r>
              <a:rPr sz="2300" b="1" spc="-20" dirty="0">
                <a:latin typeface="Times New Roman"/>
                <a:cs typeface="Times New Roman"/>
              </a:rPr>
              <a:t>Work</a:t>
            </a:r>
            <a:endParaRPr sz="2300" dirty="0">
              <a:latin typeface="Times New Roman"/>
              <a:cs typeface="Times New Roman"/>
            </a:endParaRPr>
          </a:p>
          <a:p>
            <a:pPr marL="145415" indent="-140970">
              <a:lnSpc>
                <a:spcPct val="100000"/>
              </a:lnSpc>
              <a:spcBef>
                <a:spcPts val="1370"/>
              </a:spcBef>
              <a:buSzPct val="95652"/>
              <a:buFont typeface="Wingdings"/>
              <a:buChar char=""/>
              <a:tabLst>
                <a:tab pos="145415" algn="l"/>
              </a:tabLst>
            </a:pPr>
            <a:r>
              <a:rPr sz="2300" b="1" spc="-10" dirty="0">
                <a:latin typeface="Times New Roman"/>
                <a:cs typeface="Times New Roman"/>
              </a:rPr>
              <a:t>References</a:t>
            </a:r>
            <a:endParaRPr sz="23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224587"/>
            <a:ext cx="10973435" cy="0"/>
          </a:xfrm>
          <a:custGeom>
            <a:avLst/>
            <a:gdLst/>
            <a:ahLst/>
            <a:cxnLst/>
            <a:rect l="l" t="t" r="r" b="b"/>
            <a:pathLst>
              <a:path w="10973435">
                <a:moveTo>
                  <a:pt x="0" y="0"/>
                </a:moveTo>
                <a:lnTo>
                  <a:pt x="10972863" y="0"/>
                </a:lnTo>
              </a:path>
            </a:pathLst>
          </a:custGeom>
          <a:ln w="6350">
            <a:solidFill>
              <a:srgbClr val="B12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0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>
                <a:solidFill>
                  <a:srgbClr val="6B6C70"/>
                </a:solidFill>
              </a:rPr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994" y="6412229"/>
            <a:ext cx="7471664" cy="1428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79175" y="6404609"/>
            <a:ext cx="191134" cy="1527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94702" y="854375"/>
            <a:ext cx="10602595" cy="4998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NyaySetu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Empowering Justice Through Technology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"Expert Legal Aid for Your Rights"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NyaySetu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legal solutions platform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connecting citizens with legal expertise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Technology-driven approach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making justice accessible to everyone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providing free, fast legal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legal representation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practice areas</a:t>
            </a:r>
          </a:p>
          <a:p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Mission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“Provide justice through comprehensive legal support"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geographical and economic barriers while ensuring quality legal assistance is never out of reach.</a:t>
            </a:r>
          </a:p>
          <a:p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Vision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legally informed and empowered society 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Justice is accessible at everyone's fingertips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rights are protected proactively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Communities have comprehensive legal support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Offering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legal solutions tailored to your specific needs and circumstances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from consultation to representation.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224587"/>
            <a:ext cx="10973435" cy="0"/>
          </a:xfrm>
          <a:custGeom>
            <a:avLst/>
            <a:gdLst/>
            <a:ahLst/>
            <a:cxnLst/>
            <a:rect l="l" t="t" r="r" b="b"/>
            <a:pathLst>
              <a:path w="10973435">
                <a:moveTo>
                  <a:pt x="0" y="0"/>
                </a:moveTo>
                <a:lnTo>
                  <a:pt x="10972863" y="0"/>
                </a:lnTo>
              </a:path>
            </a:pathLst>
          </a:custGeom>
          <a:ln w="6350">
            <a:solidFill>
              <a:srgbClr val="B12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0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>
                <a:solidFill>
                  <a:srgbClr val="6B6C70"/>
                </a:solidFill>
              </a:rPr>
              <a:t>Motivation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21994" y="6412229"/>
            <a:ext cx="7479030" cy="142875"/>
            <a:chOff x="721994" y="6412229"/>
            <a:chExt cx="7479030" cy="142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94" y="6412229"/>
              <a:ext cx="2036952" cy="142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3669" y="6412229"/>
              <a:ext cx="76200" cy="1428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0118" y="6412229"/>
              <a:ext cx="5470652" cy="14287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72825" y="6404609"/>
            <a:ext cx="191134" cy="1527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09294" y="1011617"/>
            <a:ext cx="5081906" cy="51526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1: 📍 Limited Access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in rural/underprivileged areas lack legal assistance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Lawyers concentrated in urban centers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barriers prevent access to quality representation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widespread injustice and exploitation</a:t>
            </a:r>
          </a:p>
          <a:p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2: 💰 Fear of Courts &amp; High Costs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Indians fear the legal system due to: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⏱️ Excessive delays (cases taking years or decades)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💸 Prohibitively high legal fees (₹5,000-50,000+ per consultation)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📋 Complex, intimidating procedures and jargon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🏛️ Social stigma around legal battles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😰 Uncertainty about outcomes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legal case cost: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₹50,000 - ₹5,00,000+ making justice unaffordable</a:t>
            </a:r>
          </a:p>
          <a:p>
            <a:b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D85AA9-CBF2-37F7-4E6D-5367689EBBDC}"/>
              </a:ext>
            </a:extLst>
          </p:cNvPr>
          <p:cNvSpPr txBox="1"/>
          <p:nvPr/>
        </p:nvSpPr>
        <p:spPr>
          <a:xfrm>
            <a:off x="6400802" y="1447800"/>
            <a:ext cx="518699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3: 📚 Lack of Awareness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unaware of their legal rights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various situations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know what legal recourses are available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Susceptible to exploitation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contracts, employment, property matters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Unable to navigate legal complexities without guidance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trusted platform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initial legal consultation</a:t>
            </a:r>
          </a:p>
          <a:p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700+ million smartphone users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limited access to affordable, trustworthy legal guidance when they need it most.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E14AA3-AC6C-6914-9A4B-55E9FC101F8E}"/>
              </a:ext>
            </a:extLst>
          </p:cNvPr>
          <p:cNvSpPr txBox="1"/>
          <p:nvPr/>
        </p:nvSpPr>
        <p:spPr>
          <a:xfrm>
            <a:off x="3352802" y="9611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Justice Gap: Why Legal Aid is Crucial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224587"/>
            <a:ext cx="10973435" cy="0"/>
          </a:xfrm>
          <a:custGeom>
            <a:avLst/>
            <a:gdLst/>
            <a:ahLst/>
            <a:cxnLst/>
            <a:rect l="l" t="t" r="r" b="b"/>
            <a:pathLst>
              <a:path w="10973435">
                <a:moveTo>
                  <a:pt x="0" y="0"/>
                </a:moveTo>
                <a:lnTo>
                  <a:pt x="10972863" y="0"/>
                </a:lnTo>
              </a:path>
            </a:pathLst>
          </a:custGeom>
          <a:ln w="6350">
            <a:solidFill>
              <a:srgbClr val="B12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27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65" dirty="0"/>
              <a:t> </a:t>
            </a:r>
            <a:r>
              <a:rPr spc="-10" dirty="0"/>
              <a:t>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994" y="6412229"/>
            <a:ext cx="7471664" cy="1428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76000" y="6404609"/>
            <a:ext cx="191134" cy="1527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E79E7C-8338-6E6D-7062-2D432B277D63}"/>
              </a:ext>
            </a:extLst>
          </p:cNvPr>
          <p:cNvSpPr txBox="1"/>
          <p:nvPr/>
        </p:nvSpPr>
        <p:spPr>
          <a:xfrm>
            <a:off x="614362" y="1022715"/>
            <a:ext cx="1131093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Problem: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Indian citizens lack access to affordable, comprehensive legal aid and professional legal services, leaving them vulnerable to exploitation and unable to protect their rights.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Challenges: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Geographical Barriers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services heavily concentrated in urban centers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populations (65% of India) severely underserved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Sant Tukaram Nagar, Pimpri, Pune serves as model for accessibility</a:t>
            </a:r>
          </a:p>
          <a:p>
            <a:pPr>
              <a:buNone/>
            </a:pP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💸 Economic Constraints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consultation: ₹500-5,000+ per session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case representation: ₹50,000-5,00,000+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Unaffordable for majority living on limited incomes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transparent pricing or accessible options</a:t>
            </a:r>
          </a:p>
          <a:p>
            <a:pPr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Information &amp; Trust Gap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awareness about rights in specific situations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know which lawyer specializes in their issue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platform connecting citizens with verified legal experts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 of being overcharged or misguided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A9A0C4-2745-54A6-B0AB-5EBE785AFCF5}"/>
              </a:ext>
            </a:extLst>
          </p:cNvPr>
          <p:cNvSpPr txBox="1"/>
          <p:nvPr/>
        </p:nvSpPr>
        <p:spPr>
          <a:xfrm>
            <a:off x="6705600" y="2209800"/>
            <a:ext cx="533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🗣️ Language &amp; Complexity Barriers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information primarily in English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legal jargon intimidates common citizens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simplified explanations of legal processes</a:t>
            </a:r>
          </a:p>
          <a:p>
            <a:pPr>
              <a:buNone/>
            </a:pP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⚖️ Fragmented Services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platforms for different legal needs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comprehensive solution covering all legal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struggle to find right legal help quickly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224587"/>
            <a:ext cx="10973435" cy="0"/>
          </a:xfrm>
          <a:custGeom>
            <a:avLst/>
            <a:gdLst/>
            <a:ahLst/>
            <a:cxnLst/>
            <a:rect l="l" t="t" r="r" b="b"/>
            <a:pathLst>
              <a:path w="10973435">
                <a:moveTo>
                  <a:pt x="0" y="0"/>
                </a:moveTo>
                <a:lnTo>
                  <a:pt x="10972863" y="0"/>
                </a:lnTo>
              </a:path>
            </a:pathLst>
          </a:custGeom>
          <a:ln w="6350">
            <a:solidFill>
              <a:srgbClr val="B12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Scope</a:t>
            </a:r>
            <a:r>
              <a:rPr spc="-70" dirty="0"/>
              <a:t> </a:t>
            </a:r>
            <a:r>
              <a:rPr dirty="0"/>
              <a:t>&amp;</a:t>
            </a:r>
            <a:r>
              <a:rPr spc="20" dirty="0"/>
              <a:t> </a:t>
            </a:r>
            <a:r>
              <a:rPr spc="-10" dirty="0"/>
              <a:t>Objective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21994" y="6412229"/>
            <a:ext cx="7479030" cy="142875"/>
            <a:chOff x="721994" y="6412229"/>
            <a:chExt cx="7479030" cy="142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94" y="6412229"/>
              <a:ext cx="2036952" cy="142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3669" y="6412229"/>
              <a:ext cx="76200" cy="1428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0118" y="6412229"/>
              <a:ext cx="5470652" cy="14287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72825" y="6404609"/>
            <a:ext cx="191134" cy="1527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882E696-698B-6749-7294-D6472BA94915}"/>
              </a:ext>
            </a:extLst>
          </p:cNvPr>
          <p:cNvSpPr txBox="1"/>
          <p:nvPr/>
        </p:nvSpPr>
        <p:spPr>
          <a:xfrm>
            <a:off x="614361" y="1081616"/>
            <a:ext cx="107495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Development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(soham-malpure.github.io/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nyaysetu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all devices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C4D4510-9E97-17EA-25EC-95C96416D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15290"/>
              </p:ext>
            </p:extLst>
          </p:nvPr>
        </p:nvGraphicFramePr>
        <p:xfrm>
          <a:off x="676377" y="2721895"/>
          <a:ext cx="7248423" cy="313628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3023">
                  <a:extLst>
                    <a:ext uri="{9D8B030D-6E8A-4147-A177-3AD203B41FA5}">
                      <a16:colId xmlns:a16="http://schemas.microsoft.com/office/drawing/2014/main" val="2256817386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3662586231"/>
                    </a:ext>
                  </a:extLst>
                </a:gridCol>
              </a:tblGrid>
              <a:tr h="299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354513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⚖️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Civil Law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Contract disputes, property disputes, personal injury claims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097292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👨‍👩‍👧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Family Law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Divorce, child custody, alimony, family-related matters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474565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🏢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Corporate Law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formation, contracts, compliance, IP protection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334430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🚔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Criminal Law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Defense against charges (DUI, theft, assault), rights protection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901845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🤕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 Injury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Accident victims, negligence, workplace injuries, compensation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458259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🏠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Estate Law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 transactions, disputes, leases, zoning, title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23755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👔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Employment Law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Discrimination, contracts, workplace disputes, rights protection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517604"/>
                  </a:ext>
                </a:extLst>
              </a:tr>
              <a:tr h="299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🛂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Immigration Law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Visas, green cards, citizenship, deportation defense, appeals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318267"/>
                  </a:ext>
                </a:extLst>
              </a:tr>
              <a:tr h="39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💡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Intellectual Property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Copyrights, trademarks, patents, trade secrets protection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57024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78F34AD3-D67F-D6A6-F898-F6590891C9CE}"/>
              </a:ext>
            </a:extLst>
          </p:cNvPr>
          <p:cNvSpPr txBox="1"/>
          <p:nvPr/>
        </p:nvSpPr>
        <p:spPr>
          <a:xfrm>
            <a:off x="7924800" y="1720134"/>
            <a:ext cx="434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Multilingual support (3 Indian languages)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AI-powered legal query resolution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Comprehensive legal information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Direct contact: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nyaysetu101@gmail.com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+91 8208836121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9C88-0B7B-A497-7DD2-149CCA20E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63FA25-AAC7-2F83-5E30-ED3BFB6A7377}"/>
              </a:ext>
            </a:extLst>
          </p:cNvPr>
          <p:cNvSpPr/>
          <p:nvPr/>
        </p:nvSpPr>
        <p:spPr>
          <a:xfrm>
            <a:off x="614362" y="6224587"/>
            <a:ext cx="10973435" cy="0"/>
          </a:xfrm>
          <a:custGeom>
            <a:avLst/>
            <a:gdLst/>
            <a:ahLst/>
            <a:cxnLst/>
            <a:rect l="l" t="t" r="r" b="b"/>
            <a:pathLst>
              <a:path w="10973435">
                <a:moveTo>
                  <a:pt x="0" y="0"/>
                </a:moveTo>
                <a:lnTo>
                  <a:pt x="10972863" y="0"/>
                </a:lnTo>
              </a:path>
            </a:pathLst>
          </a:custGeom>
          <a:ln w="6350">
            <a:solidFill>
              <a:srgbClr val="B12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2988AF-19AF-DBF9-13BA-7822A5B9A8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Scope</a:t>
            </a:r>
            <a:r>
              <a:rPr spc="-70" dirty="0"/>
              <a:t> </a:t>
            </a:r>
            <a:r>
              <a:rPr dirty="0"/>
              <a:t>&amp;</a:t>
            </a:r>
            <a:r>
              <a:rPr spc="20" dirty="0"/>
              <a:t> </a:t>
            </a:r>
            <a:r>
              <a:rPr spc="-10" dirty="0"/>
              <a:t>Objective</a:t>
            </a: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19D7C66-6F2C-29DA-04CD-8B16B07F48EA}"/>
              </a:ext>
            </a:extLst>
          </p:cNvPr>
          <p:cNvGrpSpPr/>
          <p:nvPr/>
        </p:nvGrpSpPr>
        <p:grpSpPr>
          <a:xfrm>
            <a:off x="721994" y="6412229"/>
            <a:ext cx="7479030" cy="142875"/>
            <a:chOff x="721994" y="6412229"/>
            <a:chExt cx="7479030" cy="1428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050DB14-F0E1-0C23-D633-D01FD2CE163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94" y="6412229"/>
              <a:ext cx="2036952" cy="142875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AFFA5F28-81AC-C30D-A8D2-475B2C2E8AD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3669" y="6412229"/>
              <a:ext cx="76200" cy="142875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B493427-4835-B516-B66C-EC77D267603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0118" y="6412229"/>
              <a:ext cx="5470652" cy="142875"/>
            </a:xfrm>
            <a:prstGeom prst="rect">
              <a:avLst/>
            </a:prstGeom>
          </p:spPr>
        </p:pic>
      </p:grpSp>
      <p:pic>
        <p:nvPicPr>
          <p:cNvPr id="9" name="object 9">
            <a:extLst>
              <a:ext uri="{FF2B5EF4-FFF2-40B4-BE49-F238E27FC236}">
                <a16:creationId xmlns:a16="http://schemas.microsoft.com/office/drawing/2014/main" id="{A9515C8D-EF0A-553C-DE6B-ABC28769860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B43C248-0115-C859-1DD7-07B9C7E1A1A2}"/>
              </a:ext>
            </a:extLst>
          </p:cNvPr>
          <p:cNvSpPr txBox="1"/>
          <p:nvPr/>
        </p:nvSpPr>
        <p:spPr>
          <a:xfrm>
            <a:off x="722507" y="1295400"/>
            <a:ext cx="1086529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Democratise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Legal Aid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quality legal assistance accessible to everyone and ensure everyone knows their rights.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Legal Complexity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complex legal information in simple, understandable language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 Through Information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guidance on legal rights, processes, and options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Quick Resolution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access to legal guidance for timely decision-making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Economic Barriers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consultation and free legal information</a:t>
            </a:r>
          </a:p>
          <a:p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Rural citizens | Economically weaker sections | Women | Elderly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 business owners | Students | Accident victims | Anyone needing legal help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ED37D-472C-29D6-8BFA-5D20A893B844}"/>
              </a:ext>
            </a:extLst>
          </p:cNvPr>
          <p:cNvSpPr txBox="1"/>
          <p:nvPr/>
        </p:nvSpPr>
        <p:spPr>
          <a:xfrm>
            <a:off x="11054397" y="6345166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 dirty="0">
                <a:solidFill>
                  <a:schemeClr val="bg1">
                    <a:lumMod val="65000"/>
                  </a:schemeClr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90254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224587"/>
            <a:ext cx="10973435" cy="0"/>
          </a:xfrm>
          <a:custGeom>
            <a:avLst/>
            <a:gdLst/>
            <a:ahLst/>
            <a:cxnLst/>
            <a:rect l="l" t="t" r="r" b="b"/>
            <a:pathLst>
              <a:path w="10973435">
                <a:moveTo>
                  <a:pt x="0" y="0"/>
                </a:moveTo>
                <a:lnTo>
                  <a:pt x="10972863" y="0"/>
                </a:lnTo>
              </a:path>
            </a:pathLst>
          </a:custGeom>
          <a:ln w="6350">
            <a:solidFill>
              <a:srgbClr val="B12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723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System</a:t>
            </a:r>
            <a:r>
              <a:rPr spc="-200" dirty="0"/>
              <a:t> </a:t>
            </a:r>
            <a:r>
              <a:rPr spc="-10" dirty="0"/>
              <a:t>Architecture/Flow</a:t>
            </a:r>
            <a:r>
              <a:rPr spc="-95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21994" y="6412229"/>
            <a:ext cx="7479030" cy="142875"/>
            <a:chOff x="721994" y="6412229"/>
            <a:chExt cx="7479030" cy="142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94" y="6412229"/>
              <a:ext cx="2036952" cy="142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3669" y="6412229"/>
              <a:ext cx="76200" cy="1428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0118" y="6412229"/>
              <a:ext cx="5470652" cy="142875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21994" y="1123266"/>
            <a:ext cx="3786506" cy="42915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-405" dirty="0">
                <a:latin typeface="Segoe UI Emoji"/>
                <a:cs typeface="Segoe UI Emoji"/>
              </a:rPr>
              <a:t>1️⃣</a:t>
            </a:r>
            <a:r>
              <a:rPr sz="1600" spc="105" dirty="0">
                <a:latin typeface="Segoe UI Emoji"/>
                <a:cs typeface="Segoe UI Emoji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PRESENTATION</a:t>
            </a:r>
            <a:r>
              <a:rPr sz="1600" b="1" spc="11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LAYER</a:t>
            </a:r>
            <a:endParaRPr sz="1600" dirty="0">
              <a:latin typeface="Times New Roman"/>
              <a:cs typeface="Times New Roman"/>
            </a:endParaRPr>
          </a:p>
          <a:p>
            <a:pPr marL="83820" lvl="1" indent="-78105">
              <a:spcBef>
                <a:spcPts val="2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IN" sz="1600" dirty="0">
                <a:latin typeface="Times New Roman"/>
                <a:cs typeface="Times New Roman"/>
              </a:rPr>
              <a:t>Website </a:t>
            </a:r>
            <a:r>
              <a:rPr sz="1600" spc="-10" dirty="0">
                <a:latin typeface="Times New Roman"/>
                <a:cs typeface="Times New Roman"/>
              </a:rPr>
              <a:t>Interface</a:t>
            </a:r>
            <a:endParaRPr sz="1600" dirty="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2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sz="1600" dirty="0">
                <a:latin typeface="Times New Roman"/>
                <a:cs typeface="Times New Roman"/>
              </a:rPr>
              <a:t>Voice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Assistant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(future)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br>
              <a:rPr lang="en-US" sz="1600" spc="-415" dirty="0">
                <a:latin typeface="Segoe UI Emoji"/>
                <a:cs typeface="Segoe UI Emoji"/>
              </a:rPr>
            </a:br>
            <a:r>
              <a:rPr sz="1600" spc="-415" dirty="0">
                <a:latin typeface="Segoe UI Emoji"/>
                <a:cs typeface="Segoe UI Emoji"/>
              </a:rPr>
              <a:t>2️⃣</a:t>
            </a:r>
            <a:r>
              <a:rPr sz="1600" spc="95" dirty="0">
                <a:latin typeface="Segoe UI Emoji"/>
                <a:cs typeface="Segoe UI Emoji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APPLICATION</a:t>
            </a:r>
            <a:r>
              <a:rPr sz="1600" b="1" spc="9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LAYER</a:t>
            </a:r>
            <a:endParaRPr sz="1600" dirty="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2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sz="1600" dirty="0">
                <a:latin typeface="Times New Roman"/>
                <a:cs typeface="Times New Roman"/>
              </a:rPr>
              <a:t>Query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Processing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Engine</a:t>
            </a:r>
            <a:endParaRPr sz="1600" dirty="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9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IN" sz="1600" dirty="0">
                <a:latin typeface="Times New Roman"/>
                <a:cs typeface="Times New Roman"/>
              </a:rPr>
              <a:t>Law</a:t>
            </a:r>
            <a:r>
              <a:rPr lang="en-IN" sz="1600" spc="35" dirty="0">
                <a:latin typeface="Times New Roman"/>
                <a:cs typeface="Times New Roman"/>
              </a:rPr>
              <a:t> </a:t>
            </a:r>
            <a:r>
              <a:rPr lang="en-IN" sz="1600" dirty="0">
                <a:latin typeface="Times New Roman"/>
                <a:cs typeface="Times New Roman"/>
              </a:rPr>
              <a:t>Information</a:t>
            </a:r>
          </a:p>
          <a:p>
            <a:pPr marL="83820" indent="-78105">
              <a:lnSpc>
                <a:spcPct val="100000"/>
              </a:lnSpc>
              <a:spcBef>
                <a:spcPts val="2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sz="1600" dirty="0">
                <a:latin typeface="Times New Roman"/>
                <a:cs typeface="Times New Roman"/>
              </a:rPr>
              <a:t>Multilingual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Translation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Engine</a:t>
            </a:r>
            <a:endParaRPr sz="1600" dirty="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9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sz="1600" dirty="0">
                <a:latin typeface="Times New Roman"/>
                <a:cs typeface="Times New Roman"/>
              </a:rPr>
              <a:t>AI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Chatbot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Interface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br>
              <a:rPr lang="en-US" sz="1600" spc="-405" dirty="0">
                <a:latin typeface="Segoe UI Emoji"/>
                <a:cs typeface="Segoe UI Emoji"/>
              </a:rPr>
            </a:br>
            <a:r>
              <a:rPr sz="1600" spc="-405" dirty="0">
                <a:latin typeface="Segoe UI Emoji"/>
                <a:cs typeface="Segoe UI Emoji"/>
              </a:rPr>
              <a:t>3️⃣</a:t>
            </a:r>
            <a:r>
              <a:rPr sz="1600" spc="45" dirty="0">
                <a:latin typeface="Segoe UI Emoji"/>
                <a:cs typeface="Segoe UI Emoji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LOGIC</a:t>
            </a:r>
            <a:r>
              <a:rPr sz="1600" b="1" spc="14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LAYER</a:t>
            </a:r>
            <a:endParaRPr sz="1600" dirty="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15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sz="1600" dirty="0">
                <a:latin typeface="Times New Roman"/>
                <a:cs typeface="Times New Roman"/>
              </a:rPr>
              <a:t>AI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Models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(NLP)</a:t>
            </a:r>
            <a:endParaRPr sz="1600" dirty="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sz="1600" dirty="0">
                <a:latin typeface="Times New Roman"/>
                <a:cs typeface="Times New Roman"/>
              </a:rPr>
              <a:t>Query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Matching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Response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Generation</a:t>
            </a:r>
            <a:endParaRPr sz="1600" dirty="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15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sz="1600" dirty="0">
                <a:latin typeface="Times New Roman"/>
                <a:cs typeface="Times New Roman"/>
              </a:rPr>
              <a:t>Legal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Content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Recommendation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Engine</a:t>
            </a:r>
            <a:endParaRPr sz="1600" dirty="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sz="1600" dirty="0">
                <a:latin typeface="Times New Roman"/>
                <a:cs typeface="Times New Roman"/>
              </a:rPr>
              <a:t>Analytics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Reporting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Module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br>
              <a:rPr lang="en-US" sz="1600" spc="-405" dirty="0">
                <a:latin typeface="Segoe UI Emoji"/>
                <a:cs typeface="Segoe UI Emoji"/>
              </a:rPr>
            </a:b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862D79D-514C-10D1-2F55-CDE300404C4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154"/>
          <a:stretch>
            <a:fillRect/>
          </a:stretch>
        </p:blipFill>
        <p:spPr>
          <a:xfrm>
            <a:off x="4876800" y="1002304"/>
            <a:ext cx="4432298" cy="51494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019F2A-F6FF-FE08-568E-CA9285B971FA}"/>
              </a:ext>
            </a:extLst>
          </p:cNvPr>
          <p:cNvSpPr txBox="1"/>
          <p:nvPr/>
        </p:nvSpPr>
        <p:spPr>
          <a:xfrm>
            <a:off x="11054397" y="6345166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 dirty="0">
                <a:solidFill>
                  <a:schemeClr val="bg1">
                    <a:lumMod val="65000"/>
                  </a:schemeClr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224587"/>
            <a:ext cx="10973435" cy="0"/>
          </a:xfrm>
          <a:custGeom>
            <a:avLst/>
            <a:gdLst/>
            <a:ahLst/>
            <a:cxnLst/>
            <a:rect l="l" t="t" r="r" b="b"/>
            <a:pathLst>
              <a:path w="10973435">
                <a:moveTo>
                  <a:pt x="0" y="0"/>
                </a:moveTo>
                <a:lnTo>
                  <a:pt x="10972863" y="0"/>
                </a:lnTo>
              </a:path>
            </a:pathLst>
          </a:custGeom>
          <a:ln w="6350">
            <a:solidFill>
              <a:srgbClr val="B12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0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Algorithm/Methods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994" y="6412229"/>
            <a:ext cx="7471664" cy="142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12" name="object 7"/>
          <p:cNvSpPr txBox="1"/>
          <p:nvPr/>
        </p:nvSpPr>
        <p:spPr>
          <a:xfrm>
            <a:off x="990600" y="1192440"/>
            <a:ext cx="4893819" cy="5032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65100" algn="l"/>
              </a:tabLst>
            </a:pPr>
            <a:r>
              <a:rPr lang="en-IN" sz="1400" b="1" dirty="0">
                <a:latin typeface="Times New Roman"/>
                <a:cs typeface="Times New Roman"/>
              </a:rPr>
              <a:t>1. </a:t>
            </a:r>
            <a:r>
              <a:rPr sz="1400" b="1" dirty="0">
                <a:latin typeface="Times New Roman"/>
                <a:cs typeface="Times New Roman"/>
              </a:rPr>
              <a:t>SEARCH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&amp;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RETRIEVAL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spcBef>
                <a:spcPts val="60"/>
              </a:spcBef>
            </a:pPr>
            <a:r>
              <a:rPr sz="1400" b="1" spc="-10" dirty="0">
                <a:latin typeface="Times New Roman"/>
                <a:cs typeface="Times New Roman"/>
              </a:rPr>
              <a:t>ALGORITHM</a:t>
            </a:r>
            <a:endParaRPr sz="1400" dirty="0">
              <a:latin typeface="Times New Roman"/>
              <a:cs typeface="Times New Roman"/>
            </a:endParaRPr>
          </a:p>
          <a:p>
            <a:pPr marL="12700"/>
            <a:r>
              <a:rPr sz="1400" spc="-10" dirty="0">
                <a:latin typeface="Times New Roman"/>
                <a:cs typeface="Times New Roman"/>
              </a:rPr>
              <a:t>INPUT: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Query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(text/voice)</a:t>
            </a:r>
            <a:endParaRPr sz="1400" dirty="0">
              <a:latin typeface="Times New Roman"/>
              <a:cs typeface="Times New Roman"/>
            </a:endParaRPr>
          </a:p>
          <a:p>
            <a:pPr marL="165100"/>
            <a:r>
              <a:rPr sz="1400" spc="-50" dirty="0">
                <a:latin typeface="Times New Roman"/>
                <a:cs typeface="Times New Roman"/>
              </a:rPr>
              <a:t>↓</a:t>
            </a:r>
            <a:endParaRPr sz="1400" dirty="0">
              <a:latin typeface="Times New Roman"/>
              <a:cs typeface="Times New Roman"/>
            </a:endParaRPr>
          </a:p>
          <a:p>
            <a:pPr marL="12700"/>
            <a:r>
              <a:rPr sz="1400" spc="-10" dirty="0">
                <a:latin typeface="Times New Roman"/>
                <a:cs typeface="Times New Roman"/>
              </a:rPr>
              <a:t>PRE-PROCESSING</a:t>
            </a:r>
            <a:endParaRPr sz="1400" dirty="0">
              <a:latin typeface="Times New Roman"/>
              <a:cs typeface="Times New Roman"/>
            </a:endParaRPr>
          </a:p>
          <a:p>
            <a:pPr marL="100965" lvl="1" indent="-88265">
              <a:buChar char="-"/>
              <a:tabLst>
                <a:tab pos="100965" algn="l"/>
              </a:tabLst>
            </a:pPr>
            <a:r>
              <a:rPr sz="1400" dirty="0">
                <a:latin typeface="Times New Roman"/>
                <a:cs typeface="Times New Roman"/>
              </a:rPr>
              <a:t>Language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detection</a:t>
            </a:r>
            <a:endParaRPr sz="1400" dirty="0">
              <a:latin typeface="Times New Roman"/>
              <a:cs typeface="Times New Roman"/>
            </a:endParaRPr>
          </a:p>
          <a:p>
            <a:pPr marL="98425" lvl="1" indent="-85725">
              <a:spcBef>
                <a:spcPts val="60"/>
              </a:spcBef>
              <a:buChar char="-"/>
              <a:tabLst>
                <a:tab pos="98425" algn="l"/>
              </a:tabLst>
            </a:pPr>
            <a:r>
              <a:rPr sz="1400" dirty="0">
                <a:latin typeface="Times New Roman"/>
                <a:cs typeface="Times New Roman"/>
              </a:rPr>
              <a:t>Translation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needed</a:t>
            </a:r>
            <a:endParaRPr sz="1400" dirty="0">
              <a:latin typeface="Times New Roman"/>
              <a:cs typeface="Times New Roman"/>
            </a:endParaRPr>
          </a:p>
          <a:p>
            <a:pPr marL="100965" lvl="1" indent="-88265">
              <a:buChar char="-"/>
              <a:tabLst>
                <a:tab pos="100965" algn="l"/>
              </a:tabLst>
            </a:pPr>
            <a:r>
              <a:rPr sz="1400" dirty="0">
                <a:latin typeface="Times New Roman"/>
                <a:cs typeface="Times New Roman"/>
              </a:rPr>
              <a:t>Cleaning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normalization</a:t>
            </a:r>
            <a:endParaRPr sz="1400" dirty="0">
              <a:latin typeface="Times New Roman"/>
              <a:cs typeface="Times New Roman"/>
            </a:endParaRPr>
          </a:p>
          <a:p>
            <a:pPr marL="165100"/>
            <a:r>
              <a:rPr sz="1400" spc="-50" dirty="0">
                <a:latin typeface="Times New Roman"/>
                <a:cs typeface="Times New Roman"/>
              </a:rPr>
              <a:t>↓</a:t>
            </a:r>
            <a:endParaRPr sz="1400" dirty="0">
              <a:latin typeface="Times New Roman"/>
              <a:cs typeface="Times New Roman"/>
            </a:endParaRPr>
          </a:p>
          <a:p>
            <a:pPr marL="12700"/>
            <a:r>
              <a:rPr sz="1400" spc="-20" dirty="0">
                <a:latin typeface="Times New Roman"/>
                <a:cs typeface="Times New Roman"/>
              </a:rPr>
              <a:t>QUERY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ANALYSIS</a:t>
            </a:r>
            <a:endParaRPr sz="1400" dirty="0">
              <a:latin typeface="Times New Roman"/>
              <a:cs typeface="Times New Roman"/>
            </a:endParaRPr>
          </a:p>
          <a:p>
            <a:pPr marL="100965" lvl="1" indent="-88265">
              <a:buChar char="-"/>
              <a:tabLst>
                <a:tab pos="100965" algn="l"/>
              </a:tabLst>
            </a:pPr>
            <a:r>
              <a:rPr sz="1400" dirty="0">
                <a:latin typeface="Times New Roman"/>
                <a:cs typeface="Times New Roman"/>
              </a:rPr>
              <a:t>Keyword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extraction</a:t>
            </a:r>
            <a:endParaRPr sz="1400" dirty="0">
              <a:latin typeface="Times New Roman"/>
              <a:cs typeface="Times New Roman"/>
            </a:endParaRPr>
          </a:p>
          <a:p>
            <a:pPr marL="100965" lvl="1" indent="-88265">
              <a:spcBef>
                <a:spcPts val="60"/>
              </a:spcBef>
              <a:buChar char="-"/>
              <a:tabLst>
                <a:tab pos="100965" algn="l"/>
              </a:tabLst>
            </a:pPr>
            <a:r>
              <a:rPr sz="1400" dirty="0">
                <a:latin typeface="Times New Roman"/>
                <a:cs typeface="Times New Roman"/>
              </a:rPr>
              <a:t>Legal domain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classification</a:t>
            </a:r>
            <a:endParaRPr sz="1400" dirty="0">
              <a:latin typeface="Times New Roman"/>
              <a:cs typeface="Times New Roman"/>
            </a:endParaRPr>
          </a:p>
          <a:p>
            <a:pPr marL="100965" lvl="1" indent="-88265">
              <a:buChar char="-"/>
              <a:tabLst>
                <a:tab pos="100965" algn="l"/>
              </a:tabLst>
            </a:pPr>
            <a:r>
              <a:rPr sz="1400" dirty="0">
                <a:latin typeface="Times New Roman"/>
                <a:cs typeface="Times New Roman"/>
              </a:rPr>
              <a:t>Intent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identification</a:t>
            </a:r>
            <a:endParaRPr sz="1400" dirty="0">
              <a:latin typeface="Times New Roman"/>
              <a:cs typeface="Times New Roman"/>
            </a:endParaRPr>
          </a:p>
          <a:p>
            <a:pPr marL="165100"/>
            <a:r>
              <a:rPr sz="1400" spc="-50" dirty="0">
                <a:latin typeface="Times New Roman"/>
                <a:cs typeface="Times New Roman"/>
              </a:rPr>
              <a:t>↓</a:t>
            </a:r>
            <a:endParaRPr sz="1400" dirty="0">
              <a:latin typeface="Times New Roman"/>
              <a:cs typeface="Times New Roman"/>
            </a:endParaRPr>
          </a:p>
          <a:p>
            <a:pPr marL="12700"/>
            <a:r>
              <a:rPr sz="1400" spc="-35" dirty="0">
                <a:latin typeface="Times New Roman"/>
                <a:cs typeface="Times New Roman"/>
              </a:rPr>
              <a:t>DATABASE</a:t>
            </a:r>
            <a:r>
              <a:rPr sz="1400" spc="-10" dirty="0">
                <a:latin typeface="Times New Roman"/>
                <a:cs typeface="Times New Roman"/>
              </a:rPr>
              <a:t> SEARCH</a:t>
            </a:r>
            <a:endParaRPr sz="1400" dirty="0">
              <a:latin typeface="Times New Roman"/>
              <a:cs typeface="Times New Roman"/>
            </a:endParaRPr>
          </a:p>
          <a:p>
            <a:pPr marL="100965" lvl="1" indent="-88265">
              <a:buChar char="-"/>
              <a:tabLst>
                <a:tab pos="100965" algn="l"/>
              </a:tabLst>
            </a:pPr>
            <a:r>
              <a:rPr sz="1400" spc="-10" dirty="0">
                <a:latin typeface="Times New Roman"/>
                <a:cs typeface="Times New Roman"/>
              </a:rPr>
              <a:t>Full-</a:t>
            </a:r>
            <a:r>
              <a:rPr sz="1400" dirty="0">
                <a:latin typeface="Times New Roman"/>
                <a:cs typeface="Times New Roman"/>
              </a:rPr>
              <a:t>text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search (exact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matches)</a:t>
            </a:r>
            <a:endParaRPr sz="1400" dirty="0">
              <a:latin typeface="Times New Roman"/>
              <a:cs typeface="Times New Roman"/>
            </a:endParaRPr>
          </a:p>
          <a:p>
            <a:pPr marL="100965" lvl="1" indent="-88265">
              <a:spcBef>
                <a:spcPts val="60"/>
              </a:spcBef>
              <a:buChar char="-"/>
              <a:tabLst>
                <a:tab pos="100965" algn="l"/>
              </a:tabLst>
            </a:pPr>
            <a:r>
              <a:rPr sz="1400" dirty="0">
                <a:latin typeface="Times New Roman"/>
                <a:cs typeface="Times New Roman"/>
              </a:rPr>
              <a:t>Semantic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search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(conceptual</a:t>
            </a:r>
            <a:r>
              <a:rPr sz="1400" spc="-10" dirty="0">
                <a:latin typeface="Times New Roman"/>
                <a:cs typeface="Times New Roman"/>
              </a:rPr>
              <a:t> matches)</a:t>
            </a:r>
            <a:endParaRPr sz="1400" dirty="0">
              <a:latin typeface="Times New Roman"/>
              <a:cs typeface="Times New Roman"/>
            </a:endParaRPr>
          </a:p>
          <a:p>
            <a:pPr marL="165100"/>
            <a:r>
              <a:rPr sz="1400" spc="-50" dirty="0">
                <a:latin typeface="Times New Roman"/>
                <a:cs typeface="Times New Roman"/>
              </a:rPr>
              <a:t>↓</a:t>
            </a:r>
            <a:endParaRPr sz="1400" dirty="0">
              <a:latin typeface="Times New Roman"/>
              <a:cs typeface="Times New Roman"/>
            </a:endParaRPr>
          </a:p>
          <a:p>
            <a:pPr marL="12700"/>
            <a:r>
              <a:rPr sz="1400" spc="-25" dirty="0">
                <a:latin typeface="Times New Roman"/>
                <a:cs typeface="Times New Roman"/>
              </a:rPr>
              <a:t>RELEVANCE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SCORING</a:t>
            </a:r>
            <a:endParaRPr sz="1400" dirty="0">
              <a:latin typeface="Times New Roman"/>
              <a:cs typeface="Times New Roman"/>
            </a:endParaRPr>
          </a:p>
          <a:p>
            <a:pPr marL="100965" lvl="1" indent="-88265">
              <a:buChar char="-"/>
              <a:tabLst>
                <a:tab pos="100965" algn="l"/>
              </a:tabLst>
            </a:pPr>
            <a:r>
              <a:rPr sz="1400" dirty="0">
                <a:latin typeface="Times New Roman"/>
                <a:cs typeface="Times New Roman"/>
              </a:rPr>
              <a:t>Rank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10" dirty="0">
                <a:latin typeface="Times New Roman"/>
                <a:cs typeface="Times New Roman"/>
              </a:rPr>
              <a:t> accuracy, completeness,</a:t>
            </a:r>
            <a:endParaRPr sz="1400" dirty="0">
              <a:latin typeface="Times New Roman"/>
              <a:cs typeface="Times New Roman"/>
            </a:endParaRPr>
          </a:p>
          <a:p>
            <a:pPr marL="12700"/>
            <a:r>
              <a:rPr sz="1400" spc="-10" dirty="0">
                <a:latin typeface="Times New Roman"/>
                <a:cs typeface="Times New Roman"/>
              </a:rPr>
              <a:t>context</a:t>
            </a:r>
            <a:endParaRPr sz="1400" dirty="0">
              <a:latin typeface="Times New Roman"/>
              <a:cs typeface="Times New Roman"/>
            </a:endParaRPr>
          </a:p>
          <a:p>
            <a:pPr marL="165100">
              <a:spcBef>
                <a:spcPts val="65"/>
              </a:spcBef>
            </a:pPr>
            <a:r>
              <a:rPr sz="1400" spc="-50" dirty="0">
                <a:latin typeface="Times New Roman"/>
                <a:cs typeface="Times New Roman"/>
              </a:rPr>
              <a:t>↓</a:t>
            </a:r>
            <a:endParaRPr sz="1400" dirty="0">
              <a:latin typeface="Times New Roman"/>
              <a:cs typeface="Times New Roman"/>
            </a:endParaRPr>
          </a:p>
          <a:p>
            <a:pPr marL="12700" marR="15875">
              <a:spcBef>
                <a:spcPts val="45"/>
              </a:spcBef>
            </a:pPr>
            <a:r>
              <a:rPr sz="1400" spc="-20" dirty="0">
                <a:latin typeface="Times New Roman"/>
                <a:cs typeface="Times New Roman"/>
              </a:rPr>
              <a:t>OUTPUT: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Top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3-5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relevant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results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with </a:t>
            </a:r>
            <a:r>
              <a:rPr sz="1400" spc="-10" dirty="0">
                <a:latin typeface="Times New Roman"/>
                <a:cs typeface="Times New Roman"/>
              </a:rPr>
              <a:t>citations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2600" y="1192439"/>
            <a:ext cx="7110212" cy="1749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IN" sz="1400" b="1" dirty="0">
                <a:latin typeface="Times New Roman"/>
                <a:cs typeface="Times New Roman"/>
              </a:rPr>
              <a:t>2. </a:t>
            </a:r>
            <a:r>
              <a:rPr sz="1400" b="1" dirty="0">
                <a:latin typeface="Times New Roman"/>
                <a:cs typeface="Times New Roman"/>
              </a:rPr>
              <a:t>TECHNICAL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REQUIREMENTS</a:t>
            </a:r>
            <a:endParaRPr lang="en-US" sz="1400" b="1" spc="-1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984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Infrastructure: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hosting (GitHub Pages currently)</a:t>
            </a:r>
          </a:p>
          <a:p>
            <a:pPr marL="2984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1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Custom-trained on legal queries</a:t>
            </a:r>
          </a:p>
          <a:p>
            <a:pPr marL="298450" marR="1295400" indent="-285750">
              <a:spcBef>
                <a:spcPts val="25"/>
              </a:spcBef>
              <a:buFont typeface="Arial" panose="020B0604020202020204" pitchFamily="34" charset="0"/>
              <a:buChar char="•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sz="1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</a:t>
            </a:r>
          </a:p>
          <a:p>
            <a:pPr marL="298450" marR="1295400" indent="-285750">
              <a:spcBef>
                <a:spcPts val="25"/>
              </a:spcBef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integration: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nyaysetu101@gmail.com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295400" lvl="2">
              <a:spcBef>
                <a:spcPts val="25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system: +91 8208836121,</a:t>
            </a:r>
          </a:p>
          <a:p>
            <a:pPr marL="12700" marR="1295400">
              <a:spcBef>
                <a:spcPts val="25"/>
              </a:spcBef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Contact forms with validation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E0DB1-1DE9-2AA3-DE1A-5B7A3E953FF8}"/>
              </a:ext>
            </a:extLst>
          </p:cNvPr>
          <p:cNvSpPr txBox="1"/>
          <p:nvPr/>
        </p:nvSpPr>
        <p:spPr>
          <a:xfrm>
            <a:off x="11054397" y="6345166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 dirty="0">
                <a:solidFill>
                  <a:schemeClr val="bg1">
                    <a:lumMod val="65000"/>
                  </a:schemeClr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9294" y="13335"/>
            <a:ext cx="230314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spc="-150" dirty="0"/>
              <a:t> </a:t>
            </a:r>
            <a:r>
              <a:rPr spc="-30" dirty="0"/>
              <a:t>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1994" y="6412229"/>
            <a:ext cx="7479030" cy="142875"/>
            <a:chOff x="721994" y="6412229"/>
            <a:chExt cx="7479030" cy="1428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94" y="6412229"/>
              <a:ext cx="2036952" cy="1428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3669" y="6412229"/>
              <a:ext cx="76200" cy="142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0118" y="6412229"/>
              <a:ext cx="5470652" cy="14287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AE4DFBD-5AB2-8261-D93A-E023BD634982}"/>
              </a:ext>
            </a:extLst>
          </p:cNvPr>
          <p:cNvSpPr txBox="1"/>
          <p:nvPr/>
        </p:nvSpPr>
        <p:spPr>
          <a:xfrm>
            <a:off x="601662" y="1022715"/>
            <a:ext cx="10998834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🏛️ INTEGRATION WITH GOVERNMENT e-COURTS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📝 Online case filing &amp; documentation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📊 Real-time case status tracking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🎥 Virtual hearing participation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📎 Digital evidence submission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💳 Court fee payment integration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361BAA-743C-11E1-0261-D1CF37D71E15}"/>
              </a:ext>
            </a:extLst>
          </p:cNvPr>
          <p:cNvSpPr txBox="1"/>
          <p:nvPr/>
        </p:nvSpPr>
        <p:spPr>
          <a:xfrm>
            <a:off x="616904" y="3133695"/>
            <a:ext cx="7023166" cy="354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🎤 VOICE ASSISTANT SUPPORT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spcAft>
                <a:spcPts val="800"/>
              </a:spcAft>
            </a:pPr>
            <a:r>
              <a:rPr lang="en-IN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Features: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3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Voice commands in multiple Indian languages</a:t>
            </a:r>
          </a:p>
          <a:p>
            <a:pPr marL="342900" lvl="3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Natural conversation flow with AI</a:t>
            </a:r>
          </a:p>
          <a:p>
            <a:pPr marL="342900" lvl="3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Hands-free operation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en-IN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Benefits: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3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♿ Accessibility for visually impaired</a:t>
            </a:r>
          </a:p>
          <a:p>
            <a:pPr marL="342900" lvl="3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📚 Support for low-literacy users</a:t>
            </a:r>
          </a:p>
          <a:p>
            <a:pPr marL="342900" lvl="3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👴 Easier for elderly users</a:t>
            </a:r>
          </a:p>
          <a:p>
            <a:pPr lvl="0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951FC1-A3DF-21F8-E8F4-954FBE47DC49}"/>
              </a:ext>
            </a:extLst>
          </p:cNvPr>
          <p:cNvSpPr txBox="1"/>
          <p:nvPr/>
        </p:nvSpPr>
        <p:spPr>
          <a:xfrm>
            <a:off x="6096000" y="1031182"/>
            <a:ext cx="616930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🤝 PARTNERSHIPS WITH LAW FIRMS &amp; NGOs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Expansion: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Pro-bono legal services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Specialized advice in niche areas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Legal representation for deserving cases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Workshops &amp; legal awareness camps</a:t>
            </a:r>
          </a:p>
          <a:p>
            <a:pPr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Partners: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Legal aid NGOs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Corporate law firms (CSR initiatives)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Law school clinics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6EACE-85AD-C6D4-8F78-87507EA15DDB}"/>
              </a:ext>
            </a:extLst>
          </p:cNvPr>
          <p:cNvSpPr txBox="1"/>
          <p:nvPr/>
        </p:nvSpPr>
        <p:spPr>
          <a:xfrm>
            <a:off x="11054397" y="6345166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 dirty="0">
                <a:solidFill>
                  <a:schemeClr val="bg1">
                    <a:lumMod val="65000"/>
                  </a:schemeClr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994" y="6412229"/>
            <a:ext cx="7471664" cy="1428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60027" y="1295400"/>
            <a:ext cx="11271945" cy="386323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1454" marR="753745">
              <a:lnSpc>
                <a:spcPts val="1730"/>
              </a:lnSpc>
              <a:spcBef>
                <a:spcPts val="5"/>
              </a:spcBef>
            </a:pP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NyaySetu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transformative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</a:t>
            </a:r>
            <a:r>
              <a:rPr sz="1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</a:t>
            </a:r>
            <a:r>
              <a:rPr sz="16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support,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4">
              <a:lnSpc>
                <a:spcPts val="1664"/>
              </a:lnSpc>
              <a:spcBef>
                <a:spcPts val="5"/>
              </a:spcBef>
            </a:pP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1600" b="1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8365" marR="5349240" indent="-342900" algn="l">
              <a:lnSpc>
                <a:spcPts val="1650"/>
              </a:lnSpc>
              <a:spcBef>
                <a:spcPts val="65"/>
              </a:spcBef>
              <a:buFont typeface="+mj-lt"/>
              <a:buAutoNum type="arabicPeriod"/>
            </a:pP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en-US"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r>
              <a:rPr lang="en-US"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aid</a:t>
            </a:r>
            <a:r>
              <a:rPr lang="en-US"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covering</a:t>
            </a:r>
            <a:r>
              <a:rPr lang="en-US"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  <a:r>
              <a:rPr lang="en-US"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en-US" sz="1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8365" indent="-342900">
              <a:lnSpc>
                <a:spcPts val="1664"/>
              </a:lnSpc>
              <a:buFont typeface="+mj-lt"/>
              <a:buAutoNum type="arabicPeriod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breaking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8365" indent="-342900">
              <a:lnSpc>
                <a:spcPts val="1664"/>
              </a:lnSpc>
              <a:buFont typeface="+mj-lt"/>
              <a:buAutoNum type="arabicPeriod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underserved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populations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(rural,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economically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weaker, women,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4">
              <a:lnSpc>
                <a:spcPts val="1664"/>
              </a:lnSpc>
            </a:pPr>
            <a:r>
              <a:rPr sz="1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sz="16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4">
              <a:lnSpc>
                <a:spcPct val="15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sz="16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Level:</a:t>
            </a:r>
            <a:r>
              <a:rPr sz="16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Empowered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  <a:b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sz="16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Level:</a:t>
            </a:r>
            <a:r>
              <a:rPr sz="16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illiteracy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preventable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disputes</a:t>
            </a:r>
            <a:b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Societal</a:t>
            </a:r>
            <a:r>
              <a:rPr sz="1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Level:</a:t>
            </a:r>
            <a:r>
              <a:rPr sz="16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Contributing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equitable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47BD5-BC60-D516-3BA0-13C283A0BC8C}"/>
              </a:ext>
            </a:extLst>
          </p:cNvPr>
          <p:cNvSpPr txBox="1"/>
          <p:nvPr/>
        </p:nvSpPr>
        <p:spPr>
          <a:xfrm>
            <a:off x="11054397" y="6345166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 dirty="0">
                <a:solidFill>
                  <a:schemeClr val="bg1">
                    <a:lumMod val="65000"/>
                  </a:schemeClr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5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1994" y="6412229"/>
            <a:ext cx="7479030" cy="142875"/>
            <a:chOff x="721994" y="6412229"/>
            <a:chExt cx="7479030" cy="1428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94" y="6412229"/>
              <a:ext cx="2036952" cy="1428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3669" y="6412229"/>
              <a:ext cx="76200" cy="142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0118" y="6412229"/>
              <a:ext cx="5470652" cy="14287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82050" y="104775"/>
            <a:ext cx="3143250" cy="91794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sz="half" idx="2"/>
          </p:nvPr>
        </p:nvSpPr>
        <p:spPr>
          <a:xfrm>
            <a:off x="762000" y="1295400"/>
            <a:ext cx="5791200" cy="348877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45"/>
              </a:spcBef>
            </a:pPr>
            <a:r>
              <a:rPr sz="1600" spc="-10" dirty="0"/>
              <a:t>GOVERNMENT</a:t>
            </a:r>
            <a:r>
              <a:rPr sz="1600" spc="-55" dirty="0"/>
              <a:t> </a:t>
            </a:r>
            <a:r>
              <a:rPr sz="1600" spc="-10" dirty="0"/>
              <a:t>RESOURCES</a:t>
            </a:r>
          </a:p>
          <a:p>
            <a:pPr marL="298450" marR="616585" indent="-286385"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National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Legal</a:t>
            </a:r>
            <a:r>
              <a:rPr sz="1600" b="0" spc="-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Services</a:t>
            </a:r>
            <a:r>
              <a:rPr sz="1600" b="0" spc="-8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Authority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(NALSA)</a:t>
            </a:r>
            <a:r>
              <a:rPr sz="1600" b="0" spc="-10" dirty="0">
                <a:latin typeface="Times New Roman"/>
                <a:cs typeface="Times New Roman"/>
              </a:rPr>
              <a:t> </a:t>
            </a:r>
            <a:r>
              <a:rPr sz="1600" b="0" spc="-50" dirty="0">
                <a:latin typeface="Times New Roman"/>
                <a:cs typeface="Times New Roman"/>
              </a:rPr>
              <a:t>- </a:t>
            </a:r>
            <a:r>
              <a:rPr sz="16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www.nalsa.gov.in</a:t>
            </a:r>
          </a:p>
          <a:p>
            <a:pPr marL="298450" indent="-285750"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eCourts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Services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India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-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7"/>
              </a:rPr>
              <a:t>www.ecourts.gov.in</a:t>
            </a:r>
          </a:p>
          <a:p>
            <a:pPr marL="298450" indent="-285750"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Department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of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Justice,</a:t>
            </a:r>
            <a:r>
              <a:rPr sz="1600" b="0" spc="-5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Ministry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of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Law</a:t>
            </a:r>
            <a:r>
              <a:rPr sz="1600" b="0" spc="-4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and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Justice</a:t>
            </a:r>
          </a:p>
          <a:p>
            <a:pPr marL="298450" indent="-285750">
              <a:spcBef>
                <a:spcPts val="45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India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Code</a:t>
            </a:r>
            <a:r>
              <a:rPr sz="1600" b="0" spc="-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-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Legislative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Department</a:t>
            </a:r>
          </a:p>
          <a:p>
            <a:pPr marL="12700"/>
            <a:br>
              <a:rPr lang="en-US" sz="1600" dirty="0"/>
            </a:br>
            <a:r>
              <a:rPr sz="1600" dirty="0"/>
              <a:t>RESEARCH</a:t>
            </a:r>
            <a:r>
              <a:rPr sz="1600" spc="-15" dirty="0"/>
              <a:t> </a:t>
            </a:r>
            <a:r>
              <a:rPr sz="1600" dirty="0"/>
              <a:t>&amp;</a:t>
            </a:r>
            <a:r>
              <a:rPr sz="1600" spc="-114" dirty="0"/>
              <a:t> </a:t>
            </a:r>
            <a:r>
              <a:rPr sz="1600" spc="-10" dirty="0"/>
              <a:t>ARTICLES</a:t>
            </a:r>
          </a:p>
          <a:p>
            <a:pPr marL="298450" marR="40640" indent="-286385"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"Access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to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Justice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in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India:</a:t>
            </a:r>
            <a:r>
              <a:rPr sz="1600" b="0" spc="-7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An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Overview"</a:t>
            </a:r>
            <a:r>
              <a:rPr sz="1600" b="0" spc="-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-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Journal</a:t>
            </a:r>
            <a:r>
              <a:rPr sz="1600" b="0" spc="-10" dirty="0">
                <a:latin typeface="Times New Roman"/>
                <a:cs typeface="Times New Roman"/>
              </a:rPr>
              <a:t> </a:t>
            </a:r>
            <a:r>
              <a:rPr sz="1600" b="0" spc="-25" dirty="0">
                <a:latin typeface="Times New Roman"/>
                <a:cs typeface="Times New Roman"/>
              </a:rPr>
              <a:t>of </a:t>
            </a:r>
            <a:r>
              <a:rPr sz="1600" b="0" dirty="0">
                <a:latin typeface="Times New Roman"/>
                <a:cs typeface="Times New Roman"/>
              </a:rPr>
              <a:t>Legal</a:t>
            </a:r>
            <a:r>
              <a:rPr sz="1600" b="0" spc="-4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Studies</a:t>
            </a:r>
          </a:p>
          <a:p>
            <a:pPr marL="298450" indent="-285750"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"Digital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Transformation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in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Legal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Services"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-</a:t>
            </a:r>
            <a:r>
              <a:rPr sz="1600" b="0" spc="-5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Tech</a:t>
            </a:r>
            <a:r>
              <a:rPr sz="1600" b="0" spc="-35" dirty="0">
                <a:latin typeface="Times New Roman"/>
                <a:cs typeface="Times New Roman"/>
              </a:rPr>
              <a:t> </a:t>
            </a:r>
            <a:r>
              <a:rPr sz="1600" b="0" spc="-25" dirty="0">
                <a:latin typeface="Times New Roman"/>
                <a:cs typeface="Times New Roman"/>
              </a:rPr>
              <a:t>Law</a:t>
            </a:r>
          </a:p>
          <a:p>
            <a:pPr marL="298450">
              <a:spcBef>
                <a:spcPts val="50"/>
              </a:spcBef>
            </a:pPr>
            <a:r>
              <a:rPr sz="1600" b="0" spc="-10" dirty="0">
                <a:latin typeface="Times New Roman"/>
                <a:cs typeface="Times New Roman"/>
              </a:rPr>
              <a:t>Journal</a:t>
            </a:r>
          </a:p>
          <a:p>
            <a:pPr marL="298450" indent="-285750"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"AI in</a:t>
            </a:r>
            <a:r>
              <a:rPr sz="1600" b="0" spc="-1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Legal</a:t>
            </a:r>
            <a:r>
              <a:rPr sz="1600" b="0" spc="-70" dirty="0">
                <a:latin typeface="Times New Roman"/>
                <a:cs typeface="Times New Roman"/>
              </a:rPr>
              <a:t> </a:t>
            </a:r>
            <a:r>
              <a:rPr sz="1600" b="0" spc="-20" dirty="0">
                <a:latin typeface="Times New Roman"/>
                <a:cs typeface="Times New Roman"/>
              </a:rPr>
              <a:t>Technology:</a:t>
            </a:r>
            <a:r>
              <a:rPr sz="1600" b="0" spc="-70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Applications</a:t>
            </a:r>
            <a:r>
              <a:rPr sz="1600" b="0" dirty="0">
                <a:latin typeface="Times New Roman"/>
                <a:cs typeface="Times New Roman"/>
              </a:rPr>
              <a:t> and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Ethics"</a:t>
            </a:r>
          </a:p>
          <a:p>
            <a:pPr marL="298450" indent="-285750">
              <a:spcBef>
                <a:spcPts val="45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Studies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on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legal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literacy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in</a:t>
            </a:r>
            <a:r>
              <a:rPr sz="1600" b="0" spc="-3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rural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spc="-20" dirty="0">
                <a:latin typeface="Times New Roman"/>
                <a:cs typeface="Times New Roman"/>
              </a:rPr>
              <a:t>India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sz="half" idx="3"/>
          </p:nvPr>
        </p:nvSpPr>
        <p:spPr>
          <a:xfrm>
            <a:off x="6705600" y="1295400"/>
            <a:ext cx="4938966" cy="151900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/>
            <a:r>
              <a:rPr sz="1600" dirty="0"/>
              <a:t>COMPARATIVE</a:t>
            </a:r>
            <a:r>
              <a:rPr sz="1600" spc="-85" dirty="0"/>
              <a:t> </a:t>
            </a:r>
            <a:r>
              <a:rPr sz="1600" spc="-10" dirty="0"/>
              <a:t>ANALYSIS</a:t>
            </a:r>
          </a:p>
          <a:p>
            <a:pPr marL="298450" indent="-285750"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LawRato,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MyAdvo,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and</a:t>
            </a:r>
            <a:r>
              <a:rPr sz="1600" b="0" spc="-15" dirty="0">
                <a:latin typeface="Times New Roman"/>
                <a:cs typeface="Times New Roman"/>
              </a:rPr>
              <a:t> </a:t>
            </a:r>
            <a:r>
              <a:rPr sz="1600" b="0" spc="-20" dirty="0">
                <a:latin typeface="Times New Roman"/>
                <a:cs typeface="Times New Roman"/>
              </a:rPr>
              <a:t>other</a:t>
            </a:r>
          </a:p>
          <a:p>
            <a:pPr marL="298450"/>
            <a:r>
              <a:rPr sz="1600" b="0" dirty="0">
                <a:latin typeface="Times New Roman"/>
                <a:cs typeface="Times New Roman"/>
              </a:rPr>
              <a:t>legal</a:t>
            </a:r>
            <a:r>
              <a:rPr sz="1600" b="0" spc="-1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tech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platforms</a:t>
            </a:r>
          </a:p>
          <a:p>
            <a:pPr marL="298450" marR="612775" indent="-286385">
              <a:spcBef>
                <a:spcPts val="130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International</a:t>
            </a:r>
            <a:r>
              <a:rPr sz="1600" b="0" spc="-5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legal</a:t>
            </a:r>
            <a:r>
              <a:rPr sz="1600" b="0" spc="-45" dirty="0">
                <a:latin typeface="Times New Roman"/>
                <a:cs typeface="Times New Roman"/>
              </a:rPr>
              <a:t> </a:t>
            </a:r>
            <a:r>
              <a:rPr sz="1600" b="0" spc="-25" dirty="0">
                <a:latin typeface="Times New Roman"/>
                <a:cs typeface="Times New Roman"/>
              </a:rPr>
              <a:t>aid </a:t>
            </a:r>
            <a:r>
              <a:rPr sz="1600" b="0" spc="-10" dirty="0">
                <a:latin typeface="Times New Roman"/>
                <a:cs typeface="Times New Roman"/>
              </a:rPr>
              <a:t>applications</a:t>
            </a:r>
          </a:p>
          <a:p>
            <a:pPr marL="298450" marR="62230" indent="-286385"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sz="1600" b="0" dirty="0">
                <a:latin typeface="Times New Roman"/>
                <a:cs typeface="Times New Roman"/>
              </a:rPr>
              <a:t>Government's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UMANG</a:t>
            </a:r>
            <a:r>
              <a:rPr sz="1600" b="0" spc="-6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app</a:t>
            </a:r>
            <a:r>
              <a:rPr sz="1600" b="0" spc="-45" dirty="0">
                <a:latin typeface="Times New Roman"/>
                <a:cs typeface="Times New Roman"/>
              </a:rPr>
              <a:t> </a:t>
            </a:r>
            <a:r>
              <a:rPr sz="1600" b="0" spc="-50" dirty="0">
                <a:latin typeface="Times New Roman"/>
                <a:cs typeface="Times New Roman"/>
              </a:rPr>
              <a:t>- </a:t>
            </a:r>
            <a:r>
              <a:rPr sz="1600" b="0" dirty="0">
                <a:latin typeface="Times New Roman"/>
                <a:cs typeface="Times New Roman"/>
              </a:rPr>
              <a:t>citizen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services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integration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D4655-63E1-3BBB-F709-A1D9A07BEECC}"/>
              </a:ext>
            </a:extLst>
          </p:cNvPr>
          <p:cNvSpPr txBox="1"/>
          <p:nvPr/>
        </p:nvSpPr>
        <p:spPr>
          <a:xfrm>
            <a:off x="11054397" y="6345166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 dirty="0">
                <a:solidFill>
                  <a:schemeClr val="bg1">
                    <a:lumMod val="65000"/>
                  </a:schemeClr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0904" y="1890141"/>
            <a:ext cx="6405753" cy="14592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1029" y="3645280"/>
            <a:ext cx="4448429" cy="145923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748408" y="5172075"/>
            <a:ext cx="1443990" cy="1685925"/>
          </a:xfrm>
          <a:custGeom>
            <a:avLst/>
            <a:gdLst/>
            <a:ahLst/>
            <a:cxnLst/>
            <a:rect l="l" t="t" r="r" b="b"/>
            <a:pathLst>
              <a:path w="1443990" h="1685925">
                <a:moveTo>
                  <a:pt x="1443591" y="0"/>
                </a:moveTo>
                <a:lnTo>
                  <a:pt x="1243693" y="121284"/>
                </a:lnTo>
                <a:lnTo>
                  <a:pt x="1202577" y="149473"/>
                </a:lnTo>
                <a:lnTo>
                  <a:pt x="1161910" y="178259"/>
                </a:lnTo>
                <a:lnTo>
                  <a:pt x="1121698" y="207637"/>
                </a:lnTo>
                <a:lnTo>
                  <a:pt x="1081947" y="237600"/>
                </a:lnTo>
                <a:lnTo>
                  <a:pt x="1042664" y="268142"/>
                </a:lnTo>
                <a:lnTo>
                  <a:pt x="1003856" y="299257"/>
                </a:lnTo>
                <a:lnTo>
                  <a:pt x="965528" y="330937"/>
                </a:lnTo>
                <a:lnTo>
                  <a:pt x="927687" y="363178"/>
                </a:lnTo>
                <a:lnTo>
                  <a:pt x="890340" y="395972"/>
                </a:lnTo>
                <a:lnTo>
                  <a:pt x="853492" y="429313"/>
                </a:lnTo>
                <a:lnTo>
                  <a:pt x="817150" y="463195"/>
                </a:lnTo>
                <a:lnTo>
                  <a:pt x="781321" y="497612"/>
                </a:lnTo>
                <a:lnTo>
                  <a:pt x="746011" y="532556"/>
                </a:lnTo>
                <a:lnTo>
                  <a:pt x="711226" y="568023"/>
                </a:lnTo>
                <a:lnTo>
                  <a:pt x="676973" y="604004"/>
                </a:lnTo>
                <a:lnTo>
                  <a:pt x="643258" y="640495"/>
                </a:lnTo>
                <a:lnTo>
                  <a:pt x="610087" y="677489"/>
                </a:lnTo>
                <a:lnTo>
                  <a:pt x="577467" y="714979"/>
                </a:lnTo>
                <a:lnTo>
                  <a:pt x="545404" y="752959"/>
                </a:lnTo>
                <a:lnTo>
                  <a:pt x="513904" y="791422"/>
                </a:lnTo>
                <a:lnTo>
                  <a:pt x="482974" y="830363"/>
                </a:lnTo>
                <a:lnTo>
                  <a:pt x="452620" y="869775"/>
                </a:lnTo>
                <a:lnTo>
                  <a:pt x="422849" y="909652"/>
                </a:lnTo>
                <a:lnTo>
                  <a:pt x="393667" y="949987"/>
                </a:lnTo>
                <a:lnTo>
                  <a:pt x="365080" y="990774"/>
                </a:lnTo>
                <a:lnTo>
                  <a:pt x="337095" y="1032007"/>
                </a:lnTo>
                <a:lnTo>
                  <a:pt x="309718" y="1073679"/>
                </a:lnTo>
                <a:lnTo>
                  <a:pt x="282956" y="1115783"/>
                </a:lnTo>
                <a:lnTo>
                  <a:pt x="256814" y="1158315"/>
                </a:lnTo>
                <a:lnTo>
                  <a:pt x="231299" y="1201266"/>
                </a:lnTo>
                <a:lnTo>
                  <a:pt x="206418" y="1244632"/>
                </a:lnTo>
                <a:lnTo>
                  <a:pt x="182177" y="1288405"/>
                </a:lnTo>
                <a:lnTo>
                  <a:pt x="158582" y="1332579"/>
                </a:lnTo>
                <a:lnTo>
                  <a:pt x="135639" y="1377148"/>
                </a:lnTo>
                <a:lnTo>
                  <a:pt x="113356" y="1422106"/>
                </a:lnTo>
                <a:lnTo>
                  <a:pt x="91738" y="1467446"/>
                </a:lnTo>
                <a:lnTo>
                  <a:pt x="70792" y="1513161"/>
                </a:lnTo>
                <a:lnTo>
                  <a:pt x="50524" y="1559246"/>
                </a:lnTo>
                <a:lnTo>
                  <a:pt x="30940" y="1605694"/>
                </a:lnTo>
                <a:lnTo>
                  <a:pt x="12047" y="1652499"/>
                </a:lnTo>
                <a:lnTo>
                  <a:pt x="0" y="1685925"/>
                </a:lnTo>
                <a:lnTo>
                  <a:pt x="1443591" y="1685925"/>
                </a:lnTo>
                <a:lnTo>
                  <a:pt x="1443591" y="0"/>
                </a:lnTo>
                <a:close/>
              </a:path>
            </a:pathLst>
          </a:custGeom>
          <a:solidFill>
            <a:srgbClr val="B12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2512695" cy="2138680"/>
          </a:xfrm>
          <a:custGeom>
            <a:avLst/>
            <a:gdLst/>
            <a:ahLst/>
            <a:cxnLst/>
            <a:rect l="l" t="t" r="r" b="b"/>
            <a:pathLst>
              <a:path w="2512695" h="2138680">
                <a:moveTo>
                  <a:pt x="2512533" y="0"/>
                </a:moveTo>
                <a:lnTo>
                  <a:pt x="0" y="0"/>
                </a:lnTo>
                <a:lnTo>
                  <a:pt x="0" y="2138064"/>
                </a:lnTo>
                <a:lnTo>
                  <a:pt x="52871" y="2114811"/>
                </a:lnTo>
                <a:lnTo>
                  <a:pt x="99176" y="2093887"/>
                </a:lnTo>
                <a:lnTo>
                  <a:pt x="145259" y="2072564"/>
                </a:lnTo>
                <a:lnTo>
                  <a:pt x="191118" y="2050843"/>
                </a:lnTo>
                <a:lnTo>
                  <a:pt x="236752" y="2028728"/>
                </a:lnTo>
                <a:lnTo>
                  <a:pt x="282157" y="2006219"/>
                </a:lnTo>
                <a:lnTo>
                  <a:pt x="327331" y="1983319"/>
                </a:lnTo>
                <a:lnTo>
                  <a:pt x="372272" y="1960031"/>
                </a:lnTo>
                <a:lnTo>
                  <a:pt x="416979" y="1936357"/>
                </a:lnTo>
                <a:lnTo>
                  <a:pt x="461448" y="1912298"/>
                </a:lnTo>
                <a:lnTo>
                  <a:pt x="505678" y="1887858"/>
                </a:lnTo>
                <a:lnTo>
                  <a:pt x="549666" y="1863038"/>
                </a:lnTo>
                <a:lnTo>
                  <a:pt x="593411" y="1837840"/>
                </a:lnTo>
                <a:lnTo>
                  <a:pt x="636909" y="1812268"/>
                </a:lnTo>
                <a:lnTo>
                  <a:pt x="680159" y="1786322"/>
                </a:lnTo>
                <a:lnTo>
                  <a:pt x="723158" y="1760005"/>
                </a:lnTo>
                <a:lnTo>
                  <a:pt x="765905" y="1733320"/>
                </a:lnTo>
                <a:lnTo>
                  <a:pt x="808396" y="1706269"/>
                </a:lnTo>
                <a:lnTo>
                  <a:pt x="850631" y="1678853"/>
                </a:lnTo>
                <a:lnTo>
                  <a:pt x="892606" y="1651075"/>
                </a:lnTo>
                <a:lnTo>
                  <a:pt x="934319" y="1622938"/>
                </a:lnTo>
                <a:lnTo>
                  <a:pt x="975769" y="1594443"/>
                </a:lnTo>
                <a:lnTo>
                  <a:pt x="1016953" y="1565593"/>
                </a:lnTo>
                <a:lnTo>
                  <a:pt x="1057868" y="1536390"/>
                </a:lnTo>
                <a:lnTo>
                  <a:pt x="1098513" y="1506837"/>
                </a:lnTo>
                <a:lnTo>
                  <a:pt x="1138885" y="1476934"/>
                </a:lnTo>
                <a:lnTo>
                  <a:pt x="1178983" y="1446685"/>
                </a:lnTo>
                <a:lnTo>
                  <a:pt x="1218803" y="1416092"/>
                </a:lnTo>
                <a:lnTo>
                  <a:pt x="1258344" y="1385158"/>
                </a:lnTo>
                <a:lnTo>
                  <a:pt x="1297603" y="1353883"/>
                </a:lnTo>
                <a:lnTo>
                  <a:pt x="1336578" y="1322271"/>
                </a:lnTo>
                <a:lnTo>
                  <a:pt x="1375268" y="1290324"/>
                </a:lnTo>
                <a:lnTo>
                  <a:pt x="1413669" y="1258043"/>
                </a:lnTo>
                <a:lnTo>
                  <a:pt x="1451780" y="1225432"/>
                </a:lnTo>
                <a:lnTo>
                  <a:pt x="1489598" y="1192492"/>
                </a:lnTo>
                <a:lnTo>
                  <a:pt x="1527122" y="1159226"/>
                </a:lnTo>
                <a:lnTo>
                  <a:pt x="1564348" y="1125635"/>
                </a:lnTo>
                <a:lnTo>
                  <a:pt x="1601275" y="1091723"/>
                </a:lnTo>
                <a:lnTo>
                  <a:pt x="1637901" y="1057491"/>
                </a:lnTo>
                <a:lnTo>
                  <a:pt x="1674223" y="1022941"/>
                </a:lnTo>
                <a:lnTo>
                  <a:pt x="1710239" y="988076"/>
                </a:lnTo>
                <a:lnTo>
                  <a:pt x="1745946" y="952898"/>
                </a:lnTo>
                <a:lnTo>
                  <a:pt x="1781344" y="917409"/>
                </a:lnTo>
                <a:lnTo>
                  <a:pt x="1816428" y="881612"/>
                </a:lnTo>
                <a:lnTo>
                  <a:pt x="1851198" y="845508"/>
                </a:lnTo>
                <a:lnTo>
                  <a:pt x="1885651" y="809100"/>
                </a:lnTo>
                <a:lnTo>
                  <a:pt x="1919785" y="772390"/>
                </a:lnTo>
                <a:lnTo>
                  <a:pt x="1953597" y="735380"/>
                </a:lnTo>
                <a:lnTo>
                  <a:pt x="1987086" y="698072"/>
                </a:lnTo>
                <a:lnTo>
                  <a:pt x="2020249" y="660470"/>
                </a:lnTo>
                <a:lnTo>
                  <a:pt x="2053083" y="622574"/>
                </a:lnTo>
                <a:lnTo>
                  <a:pt x="2085588" y="584387"/>
                </a:lnTo>
                <a:lnTo>
                  <a:pt x="2117759" y="545912"/>
                </a:lnTo>
                <a:lnTo>
                  <a:pt x="2149596" y="507150"/>
                </a:lnTo>
                <a:lnTo>
                  <a:pt x="2181096" y="468104"/>
                </a:lnTo>
                <a:lnTo>
                  <a:pt x="2212257" y="428776"/>
                </a:lnTo>
                <a:lnTo>
                  <a:pt x="2243077" y="389168"/>
                </a:lnTo>
                <a:lnTo>
                  <a:pt x="2273553" y="349283"/>
                </a:lnTo>
                <a:lnTo>
                  <a:pt x="2303683" y="309122"/>
                </a:lnTo>
                <a:lnTo>
                  <a:pt x="2333464" y="268688"/>
                </a:lnTo>
                <a:lnTo>
                  <a:pt x="2362896" y="227984"/>
                </a:lnTo>
                <a:lnTo>
                  <a:pt x="2391975" y="187010"/>
                </a:lnTo>
                <a:lnTo>
                  <a:pt x="2420700" y="145771"/>
                </a:lnTo>
                <a:lnTo>
                  <a:pt x="2449068" y="104267"/>
                </a:lnTo>
                <a:lnTo>
                  <a:pt x="2512533" y="0"/>
                </a:lnTo>
                <a:close/>
              </a:path>
            </a:pathLst>
          </a:custGeom>
          <a:solidFill>
            <a:srgbClr val="E1B45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881245" y="6443698"/>
            <a:ext cx="2548255" cy="195580"/>
            <a:chOff x="4881245" y="6443698"/>
            <a:chExt cx="2548255" cy="19558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1245" y="6457950"/>
              <a:ext cx="1923542" cy="1812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638925" y="6443698"/>
              <a:ext cx="685800" cy="163830"/>
            </a:xfrm>
            <a:custGeom>
              <a:avLst/>
              <a:gdLst/>
              <a:ahLst/>
              <a:cxnLst/>
              <a:rect l="l" t="t" r="r" b="b"/>
              <a:pathLst>
                <a:path w="685800" h="163829">
                  <a:moveTo>
                    <a:pt x="685408" y="0"/>
                  </a:moveTo>
                  <a:lnTo>
                    <a:pt x="0" y="0"/>
                  </a:lnTo>
                  <a:lnTo>
                    <a:pt x="0" y="163411"/>
                  </a:lnTo>
                  <a:lnTo>
                    <a:pt x="685409" y="163411"/>
                  </a:lnTo>
                  <a:lnTo>
                    <a:pt x="6854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80870" y="6462837"/>
              <a:ext cx="59055" cy="118110"/>
            </a:xfrm>
            <a:custGeom>
              <a:avLst/>
              <a:gdLst/>
              <a:ahLst/>
              <a:cxnLst/>
              <a:rect l="l" t="t" r="r" b="b"/>
              <a:pathLst>
                <a:path w="59054" h="118109">
                  <a:moveTo>
                    <a:pt x="58654" y="0"/>
                  </a:moveTo>
                  <a:lnTo>
                    <a:pt x="19124" y="8406"/>
                  </a:lnTo>
                  <a:lnTo>
                    <a:pt x="13534" y="25744"/>
                  </a:lnTo>
                  <a:lnTo>
                    <a:pt x="13534" y="39228"/>
                  </a:lnTo>
                  <a:lnTo>
                    <a:pt x="0" y="39228"/>
                  </a:lnTo>
                  <a:lnTo>
                    <a:pt x="0" y="58606"/>
                  </a:lnTo>
                  <a:lnTo>
                    <a:pt x="13534" y="58606"/>
                  </a:lnTo>
                  <a:lnTo>
                    <a:pt x="13535" y="117681"/>
                  </a:lnTo>
                  <a:lnTo>
                    <a:pt x="37827" y="117681"/>
                  </a:lnTo>
                  <a:lnTo>
                    <a:pt x="37827" y="58606"/>
                  </a:lnTo>
                  <a:lnTo>
                    <a:pt x="55228" y="58606"/>
                  </a:lnTo>
                  <a:lnTo>
                    <a:pt x="58655" y="39228"/>
                  </a:lnTo>
                  <a:lnTo>
                    <a:pt x="37827" y="39228"/>
                  </a:lnTo>
                  <a:lnTo>
                    <a:pt x="37827" y="22871"/>
                  </a:lnTo>
                  <a:lnTo>
                    <a:pt x="40848" y="19383"/>
                  </a:lnTo>
                  <a:lnTo>
                    <a:pt x="45112" y="19383"/>
                  </a:lnTo>
                  <a:lnTo>
                    <a:pt x="58655" y="19383"/>
                  </a:lnTo>
                  <a:lnTo>
                    <a:pt x="58654" y="0"/>
                  </a:lnTo>
                  <a:close/>
                </a:path>
              </a:pathLst>
            </a:custGeom>
            <a:solidFill>
              <a:srgbClr val="6B6C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77511" y="6474810"/>
              <a:ext cx="98048" cy="936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13834" y="6474810"/>
              <a:ext cx="90735" cy="862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2756" y="6476982"/>
              <a:ext cx="142896" cy="893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24295" y="6477079"/>
              <a:ext cx="95900" cy="9122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34250" y="6477001"/>
              <a:ext cx="95248" cy="857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1397</Words>
  <Application>Microsoft Office PowerPoint</Application>
  <PresentationFormat>Widescreen</PresentationFormat>
  <Paragraphs>240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MT</vt:lpstr>
      <vt:lpstr>Calibri</vt:lpstr>
      <vt:lpstr>Ebrima</vt:lpstr>
      <vt:lpstr>Segoe UI Emoji</vt:lpstr>
      <vt:lpstr>Symbol</vt:lpstr>
      <vt:lpstr>Times New Roman</vt:lpstr>
      <vt:lpstr>Wingdings</vt:lpstr>
      <vt:lpstr>Office Theme</vt:lpstr>
      <vt:lpstr>Dr. D. Y. Patil Institute of Technology, Pimpri, Pune</vt:lpstr>
      <vt:lpstr>PowerPoint Presentation</vt:lpstr>
      <vt:lpstr>Introduction</vt:lpstr>
      <vt:lpstr>Motivation</vt:lpstr>
      <vt:lpstr>Problem Statement</vt:lpstr>
      <vt:lpstr>Scope &amp; Objective</vt:lpstr>
      <vt:lpstr>Scope &amp; Objective</vt:lpstr>
      <vt:lpstr>System Architecture/Flow Diagram</vt:lpstr>
      <vt:lpstr>Algorithm/Methods</vt:lpstr>
      <vt:lpstr>Future Work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Tanishka</dc:creator>
  <cp:lastModifiedBy>soham.malpure2509@gmail.com</cp:lastModifiedBy>
  <cp:revision>5</cp:revision>
  <dcterms:created xsi:type="dcterms:W3CDTF">2025-11-06T03:28:33Z</dcterms:created>
  <dcterms:modified xsi:type="dcterms:W3CDTF">2025-11-07T04:40:27Z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2025-11-05T00:00:00Z</vt:filetime>
  </property>
  <property fmtid="{D5CDD505-2E9C-101B-9397-08002B2CF9AE}" pid="3" name="LastSaved">
    <vt:filetime>2025-11-06T00:00:00Z</vt:filetime>
  </property>
</Properties>
</file>